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71C"/>
        </a:solidFill>
      </p:bgPr>
    </p:bg>
    <p:spTree>
      <p:nvGrpSpPr>
        <p:cNvPr id="1" name=""/>
        <p:cNvGrpSpPr/>
        <p:nvPr/>
      </p:nvGrpSpPr>
      <p:grpSpPr>
        <a:xfrm>
          <a:off x="0" y="0"/>
          <a:ext cx="0" cy="0"/>
          <a:chOff x="0" y="0"/>
          <a:chExt cx="0" cy="0"/>
        </a:xfrm>
      </p:grpSpPr>
      <p:sp>
        <p:nvSpPr>
          <p:cNvPr id="2" name="Shape 0"/>
          <p:cNvSpPr/>
          <p:nvPr/>
        </p:nvSpPr>
        <p:spPr>
          <a:xfrm>
            <a:off x="9326880" y="-1097280"/>
            <a:ext cx="4114800" cy="4114800"/>
          </a:xfrm>
          <a:prstGeom prst="ellipse">
            <a:avLst/>
          </a:prstGeom>
          <a:solidFill>
            <a:srgbClr val="1F2430"/>
          </a:solidFill>
          <a:ln/>
        </p:spPr>
      </p:sp>
      <p:sp>
        <p:nvSpPr>
          <p:cNvPr id="3" name="Shape 1"/>
          <p:cNvSpPr/>
          <p:nvPr/>
        </p:nvSpPr>
        <p:spPr>
          <a:xfrm>
            <a:off x="10607040" y="-274320"/>
            <a:ext cx="2011680" cy="2011680"/>
          </a:xfrm>
          <a:prstGeom prst="ellipse">
            <a:avLst/>
          </a:prstGeom>
          <a:solidFill>
            <a:srgbClr val="FF6B4A">
              <a:alpha val="15000"/>
            </a:srgbClr>
          </a:solidFill>
          <a:ln/>
        </p:spPr>
      </p:sp>
      <p:sp>
        <p:nvSpPr>
          <p:cNvPr id="4" name="Text 2"/>
          <p:cNvSpPr txBox="1"/>
          <p:nvPr/>
        </p:nvSpPr>
        <p:spPr>
          <a:xfrm>
            <a:off x="548640" y="2148840"/>
            <a:ext cx="9144000" cy="1005840"/>
          </a:xfrm>
          <a:prstGeom prst="rect">
            <a:avLst/>
          </a:prstGeom>
          <a:noFill/>
          <a:ln/>
        </p:spPr>
        <p:txBody>
          <a:bodyPr wrap="square" lIns="0" tIns="0" rIns="0" bIns="0"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BUGLENS</a:t>
            </a:r>
            <a:endParaRPr lang="en-US" sz="5400" dirty="0"/>
          </a:p>
        </p:txBody>
      </p:sp>
      <p:sp>
        <p:nvSpPr>
          <p:cNvPr id="5" name="Shape 3"/>
          <p:cNvSpPr/>
          <p:nvPr/>
        </p:nvSpPr>
        <p:spPr>
          <a:xfrm>
            <a:off x="548640" y="3154680"/>
            <a:ext cx="822960" cy="54864"/>
          </a:xfrm>
          <a:prstGeom prst="rect">
            <a:avLst/>
          </a:prstGeom>
          <a:solidFill>
            <a:srgbClr val="FF6B4A"/>
          </a:solidFill>
          <a:ln/>
        </p:spPr>
      </p:sp>
      <p:sp>
        <p:nvSpPr>
          <p:cNvPr id="6" name="Text 4"/>
          <p:cNvSpPr txBox="1"/>
          <p:nvPr/>
        </p:nvSpPr>
        <p:spPr>
          <a:xfrm>
            <a:off x="548640" y="3337560"/>
            <a:ext cx="9144000" cy="502920"/>
          </a:xfrm>
          <a:prstGeom prst="rect">
            <a:avLst/>
          </a:prstGeom>
          <a:noFill/>
          <a:ln/>
        </p:spPr>
        <p:txBody>
          <a:bodyPr wrap="square" lIns="0" tIns="0" rIns="0" bIns="0" rtlCol="0" anchor="ctr"/>
          <a:lstStyle/>
          <a:p>
            <a:pPr indent="0" marL="0">
              <a:buNone/>
            </a:pPr>
            <a:r>
              <a:rPr lang="en-US" sz="2000" dirty="0">
                <a:solidFill>
                  <a:srgbClr val="C9CDD4"/>
                </a:solidFill>
                <a:latin typeface="Calibri" pitchFamily="34" charset="0"/>
                <a:ea typeface="Calibri" pitchFamily="34" charset="-122"/>
                <a:cs typeface="Calibri" pitchFamily="34" charset="-120"/>
              </a:rPr>
              <a:t>AI-Powered Jira Defect Intelligence</a:t>
            </a:r>
            <a:endParaRPr lang="en-US" sz="2000" dirty="0"/>
          </a:p>
        </p:txBody>
      </p:sp>
      <p:sp>
        <p:nvSpPr>
          <p:cNvPr id="7" name="Text 5"/>
          <p:cNvSpPr txBox="1"/>
          <p:nvPr/>
        </p:nvSpPr>
        <p:spPr>
          <a:xfrm>
            <a:off x="548640" y="3886200"/>
            <a:ext cx="8229600" cy="457200"/>
          </a:xfrm>
          <a:prstGeom prst="rect">
            <a:avLst/>
          </a:prstGeom>
          <a:noFill/>
          <a:ln/>
        </p:spPr>
        <p:txBody>
          <a:bodyPr wrap="square" lIns="0" tIns="0" rIns="0" bIns="0" rtlCol="0" anchor="ctr"/>
          <a:lstStyle/>
          <a:p>
            <a:pPr indent="0" marL="0">
              <a:buNone/>
            </a:pPr>
            <a:r>
              <a:rPr lang="en-US" sz="1400" i="1" dirty="0">
                <a:solidFill>
                  <a:srgbClr val="8A90A0"/>
                </a:solidFill>
                <a:latin typeface="Calibri" pitchFamily="34" charset="0"/>
                <a:ea typeface="Calibri" pitchFamily="34" charset="-122"/>
                <a:cs typeface="Calibri" pitchFamily="34" charset="-120"/>
              </a:rPr>
              <a:t>Search bug history in plain English. Verify every answer. Gate every release.</a:t>
            </a:r>
            <a:endParaRPr lang="en-US" sz="1400" dirty="0"/>
          </a:p>
        </p:txBody>
      </p:sp>
      <p:sp>
        <p:nvSpPr>
          <p:cNvPr id="8" name="Text 6"/>
          <p:cNvSpPr txBox="1"/>
          <p:nvPr/>
        </p:nvSpPr>
        <p:spPr>
          <a:xfrm>
            <a:off x="548640" y="6126480"/>
            <a:ext cx="7315200" cy="365760"/>
          </a:xfrm>
          <a:prstGeom prst="rect">
            <a:avLst/>
          </a:prstGeom>
          <a:noFill/>
          <a:ln/>
        </p:spPr>
        <p:txBody>
          <a:bodyPr wrap="square" lIns="0" tIns="0" rIns="0" bIns="0" rtlCol="0" anchor="ctr"/>
          <a:lstStyle/>
          <a:p>
            <a:pPr indent="0" marL="0">
              <a:buNone/>
            </a:pPr>
            <a:r>
              <a:rPr lang="en-US" sz="1300" dirty="0">
                <a:solidFill>
                  <a:srgbClr val="8A90A0"/>
                </a:solidFill>
                <a:latin typeface="Calibri" pitchFamily="34" charset="0"/>
                <a:ea typeface="Calibri" pitchFamily="34" charset="-122"/>
                <a:cs typeface="Calibri" pitchFamily="34" charset="-120"/>
              </a:rPr>
              <a:t>Shailja Tyagi  ·  Capgemini AI Hackathon</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2569464" cy="347472"/>
          </a:xfrm>
          <a:prstGeom prst="roundRect">
            <a:avLst>
              <a:gd name="adj" fmla="val 10526"/>
            </a:avLst>
          </a:prstGeom>
          <a:solidFill>
            <a:srgbClr val="F4F5F7"/>
          </a:solidFill>
          <a:ln/>
        </p:spPr>
      </p:sp>
      <p:sp>
        <p:nvSpPr>
          <p:cNvPr id="3" name="Text 1"/>
          <p:cNvSpPr txBox="1"/>
          <p:nvPr/>
        </p:nvSpPr>
        <p:spPr>
          <a:xfrm>
            <a:off x="685800" y="384048"/>
            <a:ext cx="2386584" cy="292608"/>
          </a:xfrm>
          <a:prstGeom prst="rect">
            <a:avLst/>
          </a:prstGeom>
          <a:noFill/>
          <a:ln/>
        </p:spPr>
        <p:txBody>
          <a:bodyPr wrap="square" lIns="0" tIns="0" rIns="0" bIns="0" rtlCol="0" anchor="ctr"/>
          <a:lstStyle/>
          <a:p>
            <a:pPr indent="0" marL="0">
              <a:buNone/>
            </a:pPr>
            <a:r>
              <a:rPr lang="en-US" sz="1000" b="1" spc="200" kern="0" dirty="0">
                <a:solidFill>
                  <a:srgbClr val="C63F27"/>
                </a:solidFill>
                <a:latin typeface="Calibri" pitchFamily="34" charset="0"/>
                <a:ea typeface="Calibri" pitchFamily="34" charset="-122"/>
                <a:cs typeface="Calibri" pitchFamily="34" charset="-120"/>
              </a:rPr>
              <a:t>PROBLEM STATEMENT</a:t>
            </a:r>
            <a:endParaRPr lang="en-US" sz="1000" dirty="0"/>
          </a:p>
        </p:txBody>
      </p:sp>
      <p:sp>
        <p:nvSpPr>
          <p:cNvPr id="4" name="Text 2"/>
          <p:cNvSpPr txBox="1"/>
          <p:nvPr/>
        </p:nvSpPr>
        <p:spPr>
          <a:xfrm>
            <a:off x="548640" y="868680"/>
            <a:ext cx="11091672" cy="777240"/>
          </a:xfrm>
          <a:prstGeom prst="rect">
            <a:avLst/>
          </a:prstGeom>
          <a:noFill/>
          <a:ln/>
        </p:spPr>
        <p:txBody>
          <a:bodyPr wrap="square" lIns="0" tIns="0" rIns="0" bIns="0" rtlCol="0" anchor="ctr"/>
          <a:lstStyle/>
          <a:p>
            <a:pPr indent="0" marL="0">
              <a:buNone/>
            </a:pPr>
            <a:r>
              <a:rPr lang="en-US" sz="3000" b="1" dirty="0">
                <a:solidFill>
                  <a:srgbClr val="1A1D23"/>
                </a:solidFill>
                <a:latin typeface="Cambria" pitchFamily="34" charset="0"/>
                <a:ea typeface="Cambria" pitchFamily="34" charset="-122"/>
                <a:cs typeface="Cambria" pitchFamily="34" charset="-120"/>
              </a:rPr>
              <a:t>QA teams re-discover the same bugs, over and over.</a:t>
            </a:r>
            <a:endParaRPr lang="en-US" sz="3000" dirty="0"/>
          </a:p>
        </p:txBody>
      </p:sp>
      <p:sp>
        <p:nvSpPr>
          <p:cNvPr id="5" name="Shape 3"/>
          <p:cNvSpPr/>
          <p:nvPr/>
        </p:nvSpPr>
        <p:spPr>
          <a:xfrm>
            <a:off x="548640" y="2057400"/>
            <a:ext cx="457200" cy="457200"/>
          </a:xfrm>
          <a:prstGeom prst="roundRect">
            <a:avLst>
              <a:gd name="adj" fmla="val 16000"/>
            </a:avLst>
          </a:prstGeom>
          <a:solidFill>
            <a:srgbClr val="F4F5F7"/>
          </a:solidFill>
          <a:ln w="12700">
            <a:solidFill>
              <a:srgbClr val="E3E5E9"/>
            </a:solidFill>
            <a:prstDash val="solid"/>
          </a:ln>
        </p:spPr>
      </p:sp>
      <p:sp>
        <p:nvSpPr>
          <p:cNvPr id="6" name="Text 4"/>
          <p:cNvSpPr txBox="1"/>
          <p:nvPr/>
        </p:nvSpPr>
        <p:spPr>
          <a:xfrm>
            <a:off x="548640" y="2057400"/>
            <a:ext cx="457200" cy="457200"/>
          </a:xfrm>
          <a:prstGeom prst="rect">
            <a:avLst/>
          </a:prstGeom>
          <a:noFill/>
          <a:ln/>
        </p:spPr>
        <p:txBody>
          <a:bodyPr wrap="square" lIns="0" tIns="0" rIns="0" bIns="0" rtlCol="0" anchor="ctr"/>
          <a:lstStyle/>
          <a:p>
            <a:pPr algn="ctr" indent="0" marL="0">
              <a:buNone/>
            </a:pPr>
            <a:r>
              <a:rPr lang="en-US" sz="1800" b="1" dirty="0">
                <a:solidFill>
                  <a:srgbClr val="C63F27"/>
                </a:solidFill>
                <a:latin typeface="Cambria" pitchFamily="34" charset="0"/>
                <a:ea typeface="Cambria" pitchFamily="34" charset="-122"/>
                <a:cs typeface="Cambria" pitchFamily="34" charset="-120"/>
              </a:rPr>
              <a:t>1</a:t>
            </a:r>
            <a:endParaRPr lang="en-US" sz="1800" dirty="0"/>
          </a:p>
        </p:txBody>
      </p:sp>
      <p:sp>
        <p:nvSpPr>
          <p:cNvPr id="7" name="Text 5"/>
          <p:cNvSpPr txBox="1"/>
          <p:nvPr/>
        </p:nvSpPr>
        <p:spPr>
          <a:xfrm>
            <a:off x="1234440" y="2039112"/>
            <a:ext cx="9601200" cy="365760"/>
          </a:xfrm>
          <a:prstGeom prst="rect">
            <a:avLst/>
          </a:prstGeom>
          <a:noFill/>
          <a:ln/>
        </p:spPr>
        <p:txBody>
          <a:bodyPr wrap="square" lIns="0" tIns="0" rIns="0" bIns="0" rtlCol="0" anchor="ctr"/>
          <a:lstStyle/>
          <a:p>
            <a:pPr indent="0" marL="0">
              <a:buNone/>
            </a:pPr>
            <a:r>
              <a:rPr lang="en-US" sz="1700" b="1" dirty="0">
                <a:solidFill>
                  <a:srgbClr val="1A1D23"/>
                </a:solidFill>
                <a:latin typeface="Calibri" pitchFamily="34" charset="0"/>
                <a:ea typeface="Calibri" pitchFamily="34" charset="-122"/>
                <a:cs typeface="Calibri" pitchFamily="34" charset="-120"/>
              </a:rPr>
              <a:t>Manual triage doesn’t scale</a:t>
            </a:r>
            <a:endParaRPr lang="en-US" sz="1700" dirty="0"/>
          </a:p>
        </p:txBody>
      </p:sp>
      <p:sp>
        <p:nvSpPr>
          <p:cNvPr id="8" name="Text 6"/>
          <p:cNvSpPr txBox="1"/>
          <p:nvPr/>
        </p:nvSpPr>
        <p:spPr>
          <a:xfrm>
            <a:off x="1234440" y="2441448"/>
            <a:ext cx="9966960" cy="640080"/>
          </a:xfrm>
          <a:prstGeom prst="rect">
            <a:avLst/>
          </a:prstGeom>
          <a:noFill/>
          <a:ln/>
        </p:spPr>
        <p:txBody>
          <a:bodyPr wrap="square" lIns="0" tIns="0" rIns="0" bIns="0" rtlCol="0" anchor="ctr"/>
          <a:lstStyle/>
          <a:p>
            <a:pPr indent="0" marL="0">
              <a:lnSpc>
                <a:spcPct val="115000"/>
              </a:lnSpc>
              <a:buNone/>
            </a:pPr>
            <a:r>
              <a:rPr lang="en-US" sz="1300" dirty="0">
                <a:solidFill>
                  <a:srgbClr val="5B6270"/>
                </a:solidFill>
                <a:latin typeface="Calibri" pitchFamily="34" charset="0"/>
                <a:ea typeface="Calibri" pitchFamily="34" charset="-122"/>
                <a:cs typeface="Calibri" pitchFamily="34" charset="-120"/>
              </a:rPr>
              <a:t>Engineers manually search years of Jira tickets to check “has this happened before” — slow, inconsistent, and dependent on individual memory.</a:t>
            </a:r>
            <a:endParaRPr lang="en-US" sz="1300" dirty="0"/>
          </a:p>
        </p:txBody>
      </p:sp>
      <p:sp>
        <p:nvSpPr>
          <p:cNvPr id="9" name="Shape 7"/>
          <p:cNvSpPr/>
          <p:nvPr/>
        </p:nvSpPr>
        <p:spPr>
          <a:xfrm>
            <a:off x="548640" y="3246120"/>
            <a:ext cx="457200" cy="457200"/>
          </a:xfrm>
          <a:prstGeom prst="roundRect">
            <a:avLst>
              <a:gd name="adj" fmla="val 16000"/>
            </a:avLst>
          </a:prstGeom>
          <a:solidFill>
            <a:srgbClr val="F4F5F7"/>
          </a:solidFill>
          <a:ln w="12700">
            <a:solidFill>
              <a:srgbClr val="E3E5E9"/>
            </a:solidFill>
            <a:prstDash val="solid"/>
          </a:ln>
        </p:spPr>
      </p:sp>
      <p:sp>
        <p:nvSpPr>
          <p:cNvPr id="10" name="Text 8"/>
          <p:cNvSpPr txBox="1"/>
          <p:nvPr/>
        </p:nvSpPr>
        <p:spPr>
          <a:xfrm>
            <a:off x="548640" y="3246120"/>
            <a:ext cx="457200" cy="457200"/>
          </a:xfrm>
          <a:prstGeom prst="rect">
            <a:avLst/>
          </a:prstGeom>
          <a:noFill/>
          <a:ln/>
        </p:spPr>
        <p:txBody>
          <a:bodyPr wrap="square" lIns="0" tIns="0" rIns="0" bIns="0" rtlCol="0" anchor="ctr"/>
          <a:lstStyle/>
          <a:p>
            <a:pPr algn="ctr" indent="0" marL="0">
              <a:buNone/>
            </a:pPr>
            <a:r>
              <a:rPr lang="en-US" sz="1800" b="1" dirty="0">
                <a:solidFill>
                  <a:srgbClr val="C63F27"/>
                </a:solidFill>
                <a:latin typeface="Cambria" pitchFamily="34" charset="0"/>
                <a:ea typeface="Cambria" pitchFamily="34" charset="-122"/>
                <a:cs typeface="Cambria" pitchFamily="34" charset="-120"/>
              </a:rPr>
              <a:t>2</a:t>
            </a:r>
            <a:endParaRPr lang="en-US" sz="1800" dirty="0"/>
          </a:p>
        </p:txBody>
      </p:sp>
      <p:sp>
        <p:nvSpPr>
          <p:cNvPr id="11" name="Text 9"/>
          <p:cNvSpPr txBox="1"/>
          <p:nvPr/>
        </p:nvSpPr>
        <p:spPr>
          <a:xfrm>
            <a:off x="1234440" y="3227832"/>
            <a:ext cx="9601200" cy="365760"/>
          </a:xfrm>
          <a:prstGeom prst="rect">
            <a:avLst/>
          </a:prstGeom>
          <a:noFill/>
          <a:ln/>
        </p:spPr>
        <p:txBody>
          <a:bodyPr wrap="square" lIns="0" tIns="0" rIns="0" bIns="0" rtlCol="0" anchor="ctr"/>
          <a:lstStyle/>
          <a:p>
            <a:pPr indent="0" marL="0">
              <a:buNone/>
            </a:pPr>
            <a:r>
              <a:rPr lang="en-US" sz="1700" b="1" dirty="0">
                <a:solidFill>
                  <a:srgbClr val="1A1D23"/>
                </a:solidFill>
                <a:latin typeface="Calibri" pitchFamily="34" charset="0"/>
                <a:ea typeface="Calibri" pitchFamily="34" charset="-122"/>
                <a:cs typeface="Calibri" pitchFamily="34" charset="-120"/>
              </a:rPr>
              <a:t>Jira’s keyword search misses paraphrased duplicates</a:t>
            </a:r>
            <a:endParaRPr lang="en-US" sz="1700" dirty="0"/>
          </a:p>
        </p:txBody>
      </p:sp>
      <p:sp>
        <p:nvSpPr>
          <p:cNvPr id="12" name="Text 10"/>
          <p:cNvSpPr txBox="1"/>
          <p:nvPr/>
        </p:nvSpPr>
        <p:spPr>
          <a:xfrm>
            <a:off x="1234440" y="3630168"/>
            <a:ext cx="9966960" cy="640080"/>
          </a:xfrm>
          <a:prstGeom prst="rect">
            <a:avLst/>
          </a:prstGeom>
          <a:noFill/>
          <a:ln/>
        </p:spPr>
        <p:txBody>
          <a:bodyPr wrap="square" lIns="0" tIns="0" rIns="0" bIns="0" rtlCol="0" anchor="ctr"/>
          <a:lstStyle/>
          <a:p>
            <a:pPr indent="0" marL="0">
              <a:lnSpc>
                <a:spcPct val="115000"/>
              </a:lnSpc>
              <a:buNone/>
            </a:pPr>
            <a:r>
              <a:rPr lang="en-US" sz="1300" dirty="0">
                <a:solidFill>
                  <a:srgbClr val="5B6270"/>
                </a:solidFill>
                <a:latin typeface="Calibri" pitchFamily="34" charset="0"/>
                <a:ea typeface="Calibri" pitchFamily="34" charset="-122"/>
                <a:cs typeface="Calibri" pitchFamily="34" charset="-120"/>
              </a:rPr>
              <a:t>Two tickets describing the same root cause in different words never surface as related unless someone searches the exact right term — genuine duplicates get missed, not for lack of looking.</a:t>
            </a:r>
            <a:endParaRPr lang="en-US" sz="1300" dirty="0"/>
          </a:p>
        </p:txBody>
      </p:sp>
      <p:sp>
        <p:nvSpPr>
          <p:cNvPr id="13" name="Shape 11"/>
          <p:cNvSpPr/>
          <p:nvPr/>
        </p:nvSpPr>
        <p:spPr>
          <a:xfrm>
            <a:off x="548640" y="4434840"/>
            <a:ext cx="457200" cy="457200"/>
          </a:xfrm>
          <a:prstGeom prst="roundRect">
            <a:avLst>
              <a:gd name="adj" fmla="val 16000"/>
            </a:avLst>
          </a:prstGeom>
          <a:solidFill>
            <a:srgbClr val="F4F5F7"/>
          </a:solidFill>
          <a:ln w="12700">
            <a:solidFill>
              <a:srgbClr val="E3E5E9"/>
            </a:solidFill>
            <a:prstDash val="solid"/>
          </a:ln>
        </p:spPr>
      </p:sp>
      <p:sp>
        <p:nvSpPr>
          <p:cNvPr id="14" name="Text 12"/>
          <p:cNvSpPr txBox="1"/>
          <p:nvPr/>
        </p:nvSpPr>
        <p:spPr>
          <a:xfrm>
            <a:off x="548640" y="4434840"/>
            <a:ext cx="457200" cy="457200"/>
          </a:xfrm>
          <a:prstGeom prst="rect">
            <a:avLst/>
          </a:prstGeom>
          <a:noFill/>
          <a:ln/>
        </p:spPr>
        <p:txBody>
          <a:bodyPr wrap="square" lIns="0" tIns="0" rIns="0" bIns="0" rtlCol="0" anchor="ctr"/>
          <a:lstStyle/>
          <a:p>
            <a:pPr algn="ctr" indent="0" marL="0">
              <a:buNone/>
            </a:pPr>
            <a:r>
              <a:rPr lang="en-US" sz="1800" b="1" dirty="0">
                <a:solidFill>
                  <a:srgbClr val="C63F27"/>
                </a:solidFill>
                <a:latin typeface="Cambria" pitchFamily="34" charset="0"/>
                <a:ea typeface="Cambria" pitchFamily="34" charset="-122"/>
                <a:cs typeface="Cambria" pitchFamily="34" charset="-120"/>
              </a:rPr>
              <a:t>3</a:t>
            </a:r>
            <a:endParaRPr lang="en-US" sz="1800" dirty="0"/>
          </a:p>
        </p:txBody>
      </p:sp>
      <p:sp>
        <p:nvSpPr>
          <p:cNvPr id="15" name="Text 13"/>
          <p:cNvSpPr txBox="1"/>
          <p:nvPr/>
        </p:nvSpPr>
        <p:spPr>
          <a:xfrm>
            <a:off x="1234440" y="4416552"/>
            <a:ext cx="9601200" cy="365760"/>
          </a:xfrm>
          <a:prstGeom prst="rect">
            <a:avLst/>
          </a:prstGeom>
          <a:noFill/>
          <a:ln/>
        </p:spPr>
        <p:txBody>
          <a:bodyPr wrap="square" lIns="0" tIns="0" rIns="0" bIns="0" rtlCol="0" anchor="ctr"/>
          <a:lstStyle/>
          <a:p>
            <a:pPr indent="0" marL="0">
              <a:buNone/>
            </a:pPr>
            <a:r>
              <a:rPr lang="en-US" sz="1700" b="1" dirty="0">
                <a:solidFill>
                  <a:srgbClr val="1A1D23"/>
                </a:solidFill>
                <a:latin typeface="Calibri" pitchFamily="34" charset="0"/>
                <a:ea typeface="Calibri" pitchFamily="34" charset="-122"/>
                <a:cs typeface="Calibri" pitchFamily="34" charset="-120"/>
              </a:rPr>
              <a:t>Release sign-off is a manual read, not a decision</a:t>
            </a:r>
            <a:endParaRPr lang="en-US" sz="1700" dirty="0"/>
          </a:p>
        </p:txBody>
      </p:sp>
      <p:sp>
        <p:nvSpPr>
          <p:cNvPr id="16" name="Text 14"/>
          <p:cNvSpPr txBox="1"/>
          <p:nvPr/>
        </p:nvSpPr>
        <p:spPr>
          <a:xfrm>
            <a:off x="1234440" y="4818888"/>
            <a:ext cx="9966960" cy="640080"/>
          </a:xfrm>
          <a:prstGeom prst="rect">
            <a:avLst/>
          </a:prstGeom>
          <a:noFill/>
          <a:ln/>
        </p:spPr>
        <p:txBody>
          <a:bodyPr wrap="square" lIns="0" tIns="0" rIns="0" bIns="0" rtlCol="0" anchor="ctr"/>
          <a:lstStyle/>
          <a:p>
            <a:pPr indent="0" marL="0">
              <a:lnSpc>
                <a:spcPct val="115000"/>
              </a:lnSpc>
              <a:buNone/>
            </a:pPr>
            <a:r>
              <a:rPr lang="en-US" sz="1300" dirty="0">
                <a:solidFill>
                  <a:srgbClr val="5B6270"/>
                </a:solidFill>
                <a:latin typeface="Calibri" pitchFamily="34" charset="0"/>
                <a:ea typeface="Calibri" pitchFamily="34" charset="-122"/>
                <a:cs typeface="Calibri" pitchFamily="34" charset="-120"/>
              </a:rPr>
              <a:t>Jira can list every bug tagged to a release, but nothing evaluates that list against a rule — someone has to scan it and decide, with no consistent, auditable record of why.</a:t>
            </a:r>
            <a:endParaRPr lang="en-US" sz="1300" dirty="0"/>
          </a:p>
        </p:txBody>
      </p:sp>
      <p:sp>
        <p:nvSpPr>
          <p:cNvPr id="17" name="Shape 15"/>
          <p:cNvSpPr/>
          <p:nvPr/>
        </p:nvSpPr>
        <p:spPr>
          <a:xfrm>
            <a:off x="548640" y="5760720"/>
            <a:ext cx="11091672" cy="777240"/>
          </a:xfrm>
          <a:prstGeom prst="roundRect">
            <a:avLst>
              <a:gd name="adj" fmla="val 9412"/>
            </a:avLst>
          </a:prstGeom>
          <a:solidFill>
            <a:srgbClr val="FFF3EF"/>
          </a:solidFill>
          <a:ln/>
        </p:spPr>
      </p:sp>
      <p:sp>
        <p:nvSpPr>
          <p:cNvPr id="18" name="Text 16"/>
          <p:cNvSpPr txBox="1"/>
          <p:nvPr/>
        </p:nvSpPr>
        <p:spPr>
          <a:xfrm>
            <a:off x="822960" y="5852160"/>
            <a:ext cx="10543032" cy="548640"/>
          </a:xfrm>
          <a:prstGeom prst="rect">
            <a:avLst/>
          </a:prstGeom>
          <a:noFill/>
          <a:ln/>
        </p:spPr>
        <p:txBody>
          <a:bodyPr wrap="square" lIns="0" tIns="0" rIns="0" bIns="0" rtlCol="0" anchor="ctr"/>
          <a:lstStyle/>
          <a:p>
            <a:pPr indent="0" marL="0">
              <a:buNone/>
            </a:pPr>
            <a:r>
              <a:rPr lang="en-US" sz="1400" b="1" dirty="0">
                <a:solidFill>
                  <a:srgbClr val="C63F27"/>
                </a:solidFill>
                <a:latin typeface="Calibri" pitchFamily="34" charset="0"/>
                <a:ea typeface="Calibri" pitchFamily="34" charset="-122"/>
                <a:cs typeface="Calibri" pitchFamily="34" charset="-120"/>
              </a:rPr>
              <a:t>Result: </a:t>
            </a:r>
            <a:pPr indent="0" marL="0">
              <a:buNone/>
            </a:pPr>
            <a:r>
              <a:rPr lang="en-US" sz="1400" dirty="0">
                <a:solidFill>
                  <a:srgbClr val="1A1D23"/>
                </a:solidFill>
                <a:latin typeface="Calibri" pitchFamily="34" charset="0"/>
                <a:ea typeface="Calibri" pitchFamily="34" charset="-122"/>
                <a:cs typeface="Calibri" pitchFamily="34" charset="-120"/>
              </a:rPr>
              <a:t>duplicate tickets that were never connected, and release sign-off that depends on who read the list — not on a repeatable rule.</a:t>
            </a:r>
            <a:endParaRPr lang="en-US" sz="1400" dirty="0"/>
          </a:p>
        </p:txBody>
      </p:sp>
      <p:sp>
        <p:nvSpPr>
          <p:cNvPr id="19" name="Text 17"/>
          <p:cNvSpPr txBox="1"/>
          <p:nvPr/>
        </p:nvSpPr>
        <p:spPr>
          <a:xfrm>
            <a:off x="11365992" y="6400800"/>
            <a:ext cx="548640" cy="274320"/>
          </a:xfrm>
          <a:prstGeom prst="rect">
            <a:avLst/>
          </a:prstGeom>
          <a:noFill/>
          <a:ln/>
        </p:spPr>
        <p:txBody>
          <a:bodyPr wrap="square" lIns="0" tIns="0" rIns="0" bIns="0" rtlCol="0" anchor="ctr"/>
          <a:lstStyle/>
          <a:p>
            <a:pPr algn="r" indent="0" marL="0">
              <a:buNone/>
            </a:pPr>
            <a:r>
              <a:rPr lang="en-US" sz="1000" dirty="0">
                <a:solidFill>
                  <a:srgbClr val="5B6270"/>
                </a:solidFill>
                <a:latin typeface="Calibri" pitchFamily="34" charset="0"/>
                <a:ea typeface="Calibri" pitchFamily="34" charset="-122"/>
                <a:cs typeface="Calibri" pitchFamily="34" charset="-120"/>
              </a:rPr>
              <a:t>02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3282696" cy="347472"/>
          </a:xfrm>
          <a:prstGeom prst="roundRect">
            <a:avLst>
              <a:gd name="adj" fmla="val 10526"/>
            </a:avLst>
          </a:prstGeom>
          <a:solidFill>
            <a:srgbClr val="F4F5F7"/>
          </a:solidFill>
          <a:ln/>
        </p:spPr>
      </p:sp>
      <p:sp>
        <p:nvSpPr>
          <p:cNvPr id="3" name="Text 1"/>
          <p:cNvSpPr txBox="1"/>
          <p:nvPr/>
        </p:nvSpPr>
        <p:spPr>
          <a:xfrm>
            <a:off x="685800" y="384048"/>
            <a:ext cx="3099816" cy="292608"/>
          </a:xfrm>
          <a:prstGeom prst="rect">
            <a:avLst/>
          </a:prstGeom>
          <a:noFill/>
          <a:ln/>
        </p:spPr>
        <p:txBody>
          <a:bodyPr wrap="square" lIns="0" tIns="0" rIns="0" bIns="0" rtlCol="0" anchor="ctr"/>
          <a:lstStyle/>
          <a:p>
            <a:pPr indent="0" marL="0">
              <a:buNone/>
            </a:pPr>
            <a:r>
              <a:rPr lang="en-US" sz="1000" b="1" spc="200" kern="0" dirty="0">
                <a:solidFill>
                  <a:srgbClr val="C63F27"/>
                </a:solidFill>
                <a:latin typeface="Calibri" pitchFamily="34" charset="0"/>
                <a:ea typeface="Calibri" pitchFamily="34" charset="-122"/>
                <a:cs typeface="Calibri" pitchFamily="34" charset="-120"/>
              </a:rPr>
              <a:t>SOLUTION &amp; KEY FEATURES</a:t>
            </a:r>
            <a:endParaRPr lang="en-US" sz="1000" dirty="0"/>
          </a:p>
        </p:txBody>
      </p:sp>
      <p:sp>
        <p:nvSpPr>
          <p:cNvPr id="4" name="Text 2"/>
          <p:cNvSpPr txBox="1"/>
          <p:nvPr/>
        </p:nvSpPr>
        <p:spPr>
          <a:xfrm>
            <a:off x="548640" y="868680"/>
            <a:ext cx="11091672" cy="777240"/>
          </a:xfrm>
          <a:prstGeom prst="rect">
            <a:avLst/>
          </a:prstGeom>
          <a:noFill/>
          <a:ln/>
        </p:spPr>
        <p:txBody>
          <a:bodyPr wrap="square" lIns="0" tIns="0" rIns="0" bIns="0" rtlCol="0" anchor="ctr"/>
          <a:lstStyle/>
          <a:p>
            <a:pPr indent="0" marL="0">
              <a:buNone/>
            </a:pPr>
            <a:r>
              <a:rPr lang="en-US" sz="3000" b="1" dirty="0">
                <a:solidFill>
                  <a:srgbClr val="1A1D23"/>
                </a:solidFill>
                <a:latin typeface="Cambria" pitchFamily="34" charset="0"/>
                <a:ea typeface="Cambria" pitchFamily="34" charset="-122"/>
                <a:cs typeface="Cambria" pitchFamily="34" charset="-120"/>
              </a:rPr>
              <a:t>One pipeline, from Jira to a verified answer.</a:t>
            </a:r>
            <a:endParaRPr lang="en-US" sz="3000" dirty="0"/>
          </a:p>
        </p:txBody>
      </p:sp>
      <p:sp>
        <p:nvSpPr>
          <p:cNvPr id="5" name="Text 3"/>
          <p:cNvSpPr txBox="1"/>
          <p:nvPr/>
        </p:nvSpPr>
        <p:spPr>
          <a:xfrm>
            <a:off x="548640" y="1965960"/>
            <a:ext cx="7132320" cy="1097280"/>
          </a:xfrm>
          <a:prstGeom prst="rect">
            <a:avLst/>
          </a:prstGeom>
          <a:noFill/>
          <a:ln/>
        </p:spPr>
        <p:txBody>
          <a:bodyPr wrap="square" lIns="0" tIns="0" rIns="0" bIns="0" rtlCol="0" anchor="ctr"/>
          <a:lstStyle/>
          <a:p>
            <a:pPr indent="0" marL="0">
              <a:lnSpc>
                <a:spcPct val="130000"/>
              </a:lnSpc>
              <a:buNone/>
            </a:pPr>
            <a:r>
              <a:rPr lang="en-US" sz="1350" dirty="0">
                <a:solidFill>
                  <a:srgbClr val="5B6270"/>
                </a:solidFill>
                <a:latin typeface="Calibri" pitchFamily="34" charset="0"/>
                <a:ea typeface="Calibri" pitchFamily="34" charset="-122"/>
                <a:cs typeface="Calibri" pitchFamily="34" charset="-120"/>
              </a:rPr>
              <a:t>BugLens connects to your Jira instance, embeds every bug locally using Ollama, and lets anyone ask questions in plain English. It combines vector similarity with keyword scoring, independently verifies each match with a separate AI call, and returns a grounded answer citing only confirmed bugs — or honestly says nothing was found.</a:t>
            </a:r>
            <a:endParaRPr lang="en-US" sz="1350" dirty="0"/>
          </a:p>
        </p:txBody>
      </p:sp>
      <p:sp>
        <p:nvSpPr>
          <p:cNvPr id="6" name="Shape 4"/>
          <p:cNvSpPr/>
          <p:nvPr/>
        </p:nvSpPr>
        <p:spPr>
          <a:xfrm>
            <a:off x="548640" y="3246120"/>
            <a:ext cx="7132320" cy="777240"/>
          </a:xfrm>
          <a:prstGeom prst="roundRect">
            <a:avLst>
              <a:gd name="adj" fmla="val 9412"/>
            </a:avLst>
          </a:prstGeom>
          <a:solidFill>
            <a:srgbClr val="F4F5F7"/>
          </a:solidFill>
          <a:ln/>
        </p:spPr>
      </p:sp>
      <p:sp>
        <p:nvSpPr>
          <p:cNvPr id="7" name="Text 5"/>
          <p:cNvSpPr txBox="1"/>
          <p:nvPr/>
        </p:nvSpPr>
        <p:spPr>
          <a:xfrm>
            <a:off x="685800" y="3355848"/>
            <a:ext cx="502920" cy="50292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8" name="Text 6"/>
          <p:cNvSpPr txBox="1"/>
          <p:nvPr/>
        </p:nvSpPr>
        <p:spPr>
          <a:xfrm>
            <a:off x="1280160" y="3337560"/>
            <a:ext cx="2286000" cy="320040"/>
          </a:xfrm>
          <a:prstGeom prst="rect">
            <a:avLst/>
          </a:prstGeom>
          <a:noFill/>
          <a:ln/>
        </p:spPr>
        <p:txBody>
          <a:bodyPr wrap="square" lIns="0" tIns="0" rIns="0" bIns="0" rtlCol="0" anchor="ctr"/>
          <a:lstStyle/>
          <a:p>
            <a:pPr indent="0" marL="0">
              <a:buNone/>
            </a:pPr>
            <a:r>
              <a:rPr lang="en-US" sz="1400" b="1" dirty="0">
                <a:solidFill>
                  <a:srgbClr val="1A1D23"/>
                </a:solidFill>
                <a:latin typeface="Calibri" pitchFamily="34" charset="0"/>
                <a:ea typeface="Calibri" pitchFamily="34" charset="-122"/>
                <a:cs typeface="Calibri" pitchFamily="34" charset="-120"/>
              </a:rPr>
              <a:t>Hybrid search</a:t>
            </a:r>
            <a:endParaRPr lang="en-US" sz="1400" dirty="0"/>
          </a:p>
        </p:txBody>
      </p:sp>
      <p:sp>
        <p:nvSpPr>
          <p:cNvPr id="9" name="Text 7"/>
          <p:cNvSpPr txBox="1"/>
          <p:nvPr/>
        </p:nvSpPr>
        <p:spPr>
          <a:xfrm>
            <a:off x="3657600" y="3337560"/>
            <a:ext cx="3840480" cy="548640"/>
          </a:xfrm>
          <a:prstGeom prst="rect">
            <a:avLst/>
          </a:prstGeom>
          <a:noFill/>
          <a:ln/>
        </p:spPr>
        <p:txBody>
          <a:bodyPr wrap="square" lIns="0" tIns="0" rIns="0" bIns="0" rtlCol="0" anchor="ctr"/>
          <a:lstStyle/>
          <a:p>
            <a:pPr indent="0" marL="0">
              <a:lnSpc>
                <a:spcPct val="110000"/>
              </a:lnSpc>
              <a:buNone/>
            </a:pPr>
            <a:r>
              <a:rPr lang="en-US" sz="1150" dirty="0">
                <a:solidFill>
                  <a:srgbClr val="5B6270"/>
                </a:solidFill>
                <a:latin typeface="Calibri" pitchFamily="34" charset="0"/>
                <a:ea typeface="Calibri" pitchFamily="34" charset="-122"/>
                <a:cs typeface="Calibri" pitchFamily="34" charset="-120"/>
              </a:rPr>
              <a:t>Vector + BM25 keyword scoring — catches rare qualifier terms pure vector search dilutes</a:t>
            </a:r>
            <a:endParaRPr lang="en-US" sz="1150" dirty="0"/>
          </a:p>
        </p:txBody>
      </p:sp>
      <p:sp>
        <p:nvSpPr>
          <p:cNvPr id="10" name="Shape 8"/>
          <p:cNvSpPr/>
          <p:nvPr/>
        </p:nvSpPr>
        <p:spPr>
          <a:xfrm>
            <a:off x="548640" y="4114800"/>
            <a:ext cx="7132320" cy="777240"/>
          </a:xfrm>
          <a:prstGeom prst="roundRect">
            <a:avLst>
              <a:gd name="adj" fmla="val 9412"/>
            </a:avLst>
          </a:prstGeom>
          <a:solidFill>
            <a:srgbClr val="F4F5F7"/>
          </a:solidFill>
          <a:ln/>
        </p:spPr>
      </p:sp>
      <p:sp>
        <p:nvSpPr>
          <p:cNvPr id="11" name="Text 9"/>
          <p:cNvSpPr txBox="1"/>
          <p:nvPr/>
        </p:nvSpPr>
        <p:spPr>
          <a:xfrm>
            <a:off x="685800" y="4224528"/>
            <a:ext cx="502920" cy="50292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12" name="Text 10"/>
          <p:cNvSpPr txBox="1"/>
          <p:nvPr/>
        </p:nvSpPr>
        <p:spPr>
          <a:xfrm>
            <a:off x="1280160" y="4206240"/>
            <a:ext cx="2286000" cy="320040"/>
          </a:xfrm>
          <a:prstGeom prst="rect">
            <a:avLst/>
          </a:prstGeom>
          <a:noFill/>
          <a:ln/>
        </p:spPr>
        <p:txBody>
          <a:bodyPr wrap="square" lIns="0" tIns="0" rIns="0" bIns="0" rtlCol="0" anchor="ctr"/>
          <a:lstStyle/>
          <a:p>
            <a:pPr indent="0" marL="0">
              <a:buNone/>
            </a:pPr>
            <a:r>
              <a:rPr lang="en-US" sz="1400" b="1" dirty="0">
                <a:solidFill>
                  <a:srgbClr val="1A1D23"/>
                </a:solidFill>
                <a:latin typeface="Calibri" pitchFamily="34" charset="0"/>
                <a:ea typeface="Calibri" pitchFamily="34" charset="-122"/>
                <a:cs typeface="Calibri" pitchFamily="34" charset="-120"/>
              </a:rPr>
              <a:t>Independent verification</a:t>
            </a:r>
            <a:endParaRPr lang="en-US" sz="1400" dirty="0"/>
          </a:p>
        </p:txBody>
      </p:sp>
      <p:sp>
        <p:nvSpPr>
          <p:cNvPr id="13" name="Text 11"/>
          <p:cNvSpPr txBox="1"/>
          <p:nvPr/>
        </p:nvSpPr>
        <p:spPr>
          <a:xfrm>
            <a:off x="3657600" y="4206240"/>
            <a:ext cx="3840480" cy="548640"/>
          </a:xfrm>
          <a:prstGeom prst="rect">
            <a:avLst/>
          </a:prstGeom>
          <a:noFill/>
          <a:ln/>
        </p:spPr>
        <p:txBody>
          <a:bodyPr wrap="square" lIns="0" tIns="0" rIns="0" bIns="0" rtlCol="0" anchor="ctr"/>
          <a:lstStyle/>
          <a:p>
            <a:pPr indent="0" marL="0">
              <a:lnSpc>
                <a:spcPct val="110000"/>
              </a:lnSpc>
              <a:buNone/>
            </a:pPr>
            <a:r>
              <a:rPr lang="en-US" sz="1150" dirty="0">
                <a:solidFill>
                  <a:srgbClr val="5B6270"/>
                </a:solidFill>
                <a:latin typeface="Calibri" pitchFamily="34" charset="0"/>
                <a:ea typeface="Calibri" pitchFamily="34" charset="-122"/>
                <a:cs typeface="Calibri" pitchFamily="34" charset="-120"/>
              </a:rPr>
              <a:t>One separate AI call per retrieved bug — false positives caught and shown, never hidden</a:t>
            </a:r>
            <a:endParaRPr lang="en-US" sz="1150" dirty="0"/>
          </a:p>
        </p:txBody>
      </p:sp>
      <p:sp>
        <p:nvSpPr>
          <p:cNvPr id="14" name="Shape 12"/>
          <p:cNvSpPr/>
          <p:nvPr/>
        </p:nvSpPr>
        <p:spPr>
          <a:xfrm>
            <a:off x="548640" y="4983480"/>
            <a:ext cx="7132320" cy="777240"/>
          </a:xfrm>
          <a:prstGeom prst="roundRect">
            <a:avLst>
              <a:gd name="adj" fmla="val 9412"/>
            </a:avLst>
          </a:prstGeom>
          <a:solidFill>
            <a:srgbClr val="F4F5F7"/>
          </a:solidFill>
          <a:ln/>
        </p:spPr>
      </p:sp>
      <p:sp>
        <p:nvSpPr>
          <p:cNvPr id="15" name="Text 13"/>
          <p:cNvSpPr txBox="1"/>
          <p:nvPr/>
        </p:nvSpPr>
        <p:spPr>
          <a:xfrm>
            <a:off x="685800" y="5093208"/>
            <a:ext cx="502920" cy="50292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16" name="Text 14"/>
          <p:cNvSpPr txBox="1"/>
          <p:nvPr/>
        </p:nvSpPr>
        <p:spPr>
          <a:xfrm>
            <a:off x="1280160" y="5074920"/>
            <a:ext cx="2286000" cy="320040"/>
          </a:xfrm>
          <a:prstGeom prst="rect">
            <a:avLst/>
          </a:prstGeom>
          <a:noFill/>
          <a:ln/>
        </p:spPr>
        <p:txBody>
          <a:bodyPr wrap="square" lIns="0" tIns="0" rIns="0" bIns="0" rtlCol="0" anchor="ctr"/>
          <a:lstStyle/>
          <a:p>
            <a:pPr indent="0" marL="0">
              <a:buNone/>
            </a:pPr>
            <a:r>
              <a:rPr lang="en-US" sz="1400" b="1" dirty="0">
                <a:solidFill>
                  <a:srgbClr val="1A1D23"/>
                </a:solidFill>
                <a:latin typeface="Calibri" pitchFamily="34" charset="0"/>
                <a:ea typeface="Calibri" pitchFamily="34" charset="-122"/>
                <a:cs typeface="Calibri" pitchFamily="34" charset="-120"/>
              </a:rPr>
              <a:t>Release readiness gate</a:t>
            </a:r>
            <a:endParaRPr lang="en-US" sz="1400" dirty="0"/>
          </a:p>
        </p:txBody>
      </p:sp>
      <p:sp>
        <p:nvSpPr>
          <p:cNvPr id="17" name="Text 15"/>
          <p:cNvSpPr txBox="1"/>
          <p:nvPr/>
        </p:nvSpPr>
        <p:spPr>
          <a:xfrm>
            <a:off x="3657600" y="5074920"/>
            <a:ext cx="3840480" cy="548640"/>
          </a:xfrm>
          <a:prstGeom prst="rect">
            <a:avLst/>
          </a:prstGeom>
          <a:noFill/>
          <a:ln/>
        </p:spPr>
        <p:txBody>
          <a:bodyPr wrap="square" lIns="0" tIns="0" rIns="0" bIns="0" rtlCol="0" anchor="ctr"/>
          <a:lstStyle/>
          <a:p>
            <a:pPr indent="0" marL="0">
              <a:lnSpc>
                <a:spcPct val="110000"/>
              </a:lnSpc>
              <a:buNone/>
            </a:pPr>
            <a:r>
              <a:rPr lang="en-US" sz="1150" dirty="0">
                <a:solidFill>
                  <a:srgbClr val="5B6270"/>
                </a:solidFill>
                <a:latin typeface="Calibri" pitchFamily="34" charset="0"/>
                <a:ea typeface="Calibri" pitchFamily="34" charset="-122"/>
                <a:cs typeface="Calibri" pitchFamily="34" charset="-120"/>
              </a:rPr>
              <a:t>Deterministic GO/NO-GO in Python — the AI only explains a verdict it didn’t make</a:t>
            </a:r>
            <a:endParaRPr lang="en-US" sz="1150" dirty="0"/>
          </a:p>
        </p:txBody>
      </p:sp>
      <p:sp>
        <p:nvSpPr>
          <p:cNvPr id="18" name="Shape 16"/>
          <p:cNvSpPr/>
          <p:nvPr/>
        </p:nvSpPr>
        <p:spPr>
          <a:xfrm>
            <a:off x="548640" y="5852160"/>
            <a:ext cx="7132320" cy="777240"/>
          </a:xfrm>
          <a:prstGeom prst="roundRect">
            <a:avLst>
              <a:gd name="adj" fmla="val 9412"/>
            </a:avLst>
          </a:prstGeom>
          <a:solidFill>
            <a:srgbClr val="F4F5F7"/>
          </a:solidFill>
          <a:ln/>
        </p:spPr>
      </p:sp>
      <p:sp>
        <p:nvSpPr>
          <p:cNvPr id="19" name="Text 17"/>
          <p:cNvSpPr txBox="1"/>
          <p:nvPr/>
        </p:nvSpPr>
        <p:spPr>
          <a:xfrm>
            <a:off x="685800" y="5961888"/>
            <a:ext cx="502920" cy="50292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20" name="Text 18"/>
          <p:cNvSpPr txBox="1"/>
          <p:nvPr/>
        </p:nvSpPr>
        <p:spPr>
          <a:xfrm>
            <a:off x="1280160" y="5943600"/>
            <a:ext cx="2286000" cy="320040"/>
          </a:xfrm>
          <a:prstGeom prst="rect">
            <a:avLst/>
          </a:prstGeom>
          <a:noFill/>
          <a:ln/>
        </p:spPr>
        <p:txBody>
          <a:bodyPr wrap="square" lIns="0" tIns="0" rIns="0" bIns="0" rtlCol="0" anchor="ctr"/>
          <a:lstStyle/>
          <a:p>
            <a:pPr indent="0" marL="0">
              <a:buNone/>
            </a:pPr>
            <a:r>
              <a:rPr lang="en-US" sz="1400" b="1" dirty="0">
                <a:solidFill>
                  <a:srgbClr val="1A1D23"/>
                </a:solidFill>
                <a:latin typeface="Calibri" pitchFamily="34" charset="0"/>
                <a:ea typeface="Calibri" pitchFamily="34" charset="-122"/>
                <a:cs typeface="Calibri" pitchFamily="34" charset="-120"/>
              </a:rPr>
              <a:t>MCP integration</a:t>
            </a:r>
            <a:endParaRPr lang="en-US" sz="1400" dirty="0"/>
          </a:p>
        </p:txBody>
      </p:sp>
      <p:sp>
        <p:nvSpPr>
          <p:cNvPr id="21" name="Text 19"/>
          <p:cNvSpPr txBox="1"/>
          <p:nvPr/>
        </p:nvSpPr>
        <p:spPr>
          <a:xfrm>
            <a:off x="3657600" y="5943600"/>
            <a:ext cx="3840480" cy="548640"/>
          </a:xfrm>
          <a:prstGeom prst="rect">
            <a:avLst/>
          </a:prstGeom>
          <a:noFill/>
          <a:ln/>
        </p:spPr>
        <p:txBody>
          <a:bodyPr wrap="square" lIns="0" tIns="0" rIns="0" bIns="0" rtlCol="0" anchor="ctr"/>
          <a:lstStyle/>
          <a:p>
            <a:pPr indent="0" marL="0">
              <a:lnSpc>
                <a:spcPct val="110000"/>
              </a:lnSpc>
              <a:buNone/>
            </a:pPr>
            <a:r>
              <a:rPr lang="en-US" sz="1150" dirty="0">
                <a:solidFill>
                  <a:srgbClr val="5B6270"/>
                </a:solidFill>
                <a:latin typeface="Calibri" pitchFamily="34" charset="0"/>
                <a:ea typeface="Calibri" pitchFamily="34" charset="-122"/>
                <a:cs typeface="Calibri" pitchFamily="34" charset="-120"/>
              </a:rPr>
              <a:t>Same engine callable from GitHub Copilot, Claude Desktop, or any MCP-compatible assistant</a:t>
            </a:r>
            <a:endParaRPr lang="en-US" sz="1150" dirty="0"/>
          </a:p>
        </p:txBody>
      </p:sp>
      <p:sp>
        <p:nvSpPr>
          <p:cNvPr id="22" name="Shape 20"/>
          <p:cNvSpPr/>
          <p:nvPr/>
        </p:nvSpPr>
        <p:spPr>
          <a:xfrm>
            <a:off x="8229600" y="1965960"/>
            <a:ext cx="3429000" cy="868680"/>
          </a:xfrm>
          <a:prstGeom prst="roundRect">
            <a:avLst>
              <a:gd name="adj" fmla="val 6316"/>
            </a:avLst>
          </a:prstGeom>
          <a:solidFill>
            <a:srgbClr val="F4F5F7"/>
          </a:solidFill>
          <a:ln/>
        </p:spPr>
      </p:sp>
      <p:sp>
        <p:nvSpPr>
          <p:cNvPr id="23" name="Text 21"/>
          <p:cNvSpPr txBox="1"/>
          <p:nvPr/>
        </p:nvSpPr>
        <p:spPr>
          <a:xfrm>
            <a:off x="8412480" y="2057400"/>
            <a:ext cx="1188720" cy="502920"/>
          </a:xfrm>
          <a:prstGeom prst="rect">
            <a:avLst/>
          </a:prstGeom>
          <a:noFill/>
          <a:ln/>
        </p:spPr>
        <p:txBody>
          <a:bodyPr wrap="square" lIns="0" tIns="0" rIns="0" bIns="0" rtlCol="0" anchor="ctr"/>
          <a:lstStyle/>
          <a:p>
            <a:pPr indent="0" marL="0">
              <a:buNone/>
            </a:pPr>
            <a:r>
              <a:rPr lang="en-US" sz="2800" b="1" dirty="0">
                <a:solidFill>
                  <a:srgbClr val="1A1D23"/>
                </a:solidFill>
                <a:latin typeface="Cambria" pitchFamily="34" charset="0"/>
                <a:ea typeface="Cambria" pitchFamily="34" charset="-122"/>
                <a:cs typeface="Cambria" pitchFamily="34" charset="-120"/>
              </a:rPr>
              <a:t>60</a:t>
            </a:r>
            <a:endParaRPr lang="en-US" sz="2800" dirty="0"/>
          </a:p>
        </p:txBody>
      </p:sp>
      <p:sp>
        <p:nvSpPr>
          <p:cNvPr id="24" name="Text 22"/>
          <p:cNvSpPr txBox="1"/>
          <p:nvPr/>
        </p:nvSpPr>
        <p:spPr>
          <a:xfrm>
            <a:off x="9601200" y="2103120"/>
            <a:ext cx="1874520" cy="457200"/>
          </a:xfrm>
          <a:prstGeom prst="rect">
            <a:avLst/>
          </a:prstGeom>
          <a:noFill/>
          <a:ln/>
        </p:spPr>
        <p:txBody>
          <a:bodyPr wrap="square" lIns="0" tIns="0" rIns="0" bIns="0" rtlCol="0" anchor="ctr"/>
          <a:lstStyle/>
          <a:p>
            <a:pPr indent="0" marL="0">
              <a:lnSpc>
                <a:spcPct val="110000"/>
              </a:lnSpc>
              <a:buNone/>
            </a:pPr>
            <a:r>
              <a:rPr lang="en-US" sz="1150" dirty="0">
                <a:solidFill>
                  <a:srgbClr val="5B6270"/>
                </a:solidFill>
                <a:latin typeface="Calibri" pitchFamily="34" charset="0"/>
                <a:ea typeface="Calibri" pitchFamily="34" charset="-122"/>
                <a:cs typeface="Calibri" pitchFamily="34" charset="-120"/>
              </a:rPr>
              <a:t>real Jira bugs</a:t>
            </a:r>
            <a:endParaRPr lang="en-US" sz="1150" dirty="0"/>
          </a:p>
        </p:txBody>
      </p:sp>
      <p:sp>
        <p:nvSpPr>
          <p:cNvPr id="25" name="Shape 23"/>
          <p:cNvSpPr/>
          <p:nvPr/>
        </p:nvSpPr>
        <p:spPr>
          <a:xfrm>
            <a:off x="8229600" y="2926080"/>
            <a:ext cx="3429000" cy="868680"/>
          </a:xfrm>
          <a:prstGeom prst="roundRect">
            <a:avLst>
              <a:gd name="adj" fmla="val 6316"/>
            </a:avLst>
          </a:prstGeom>
          <a:solidFill>
            <a:srgbClr val="F4F5F7"/>
          </a:solidFill>
          <a:ln/>
        </p:spPr>
      </p:sp>
      <p:sp>
        <p:nvSpPr>
          <p:cNvPr id="26" name="Text 24"/>
          <p:cNvSpPr txBox="1"/>
          <p:nvPr/>
        </p:nvSpPr>
        <p:spPr>
          <a:xfrm>
            <a:off x="8412480" y="3017520"/>
            <a:ext cx="1188720" cy="502920"/>
          </a:xfrm>
          <a:prstGeom prst="rect">
            <a:avLst/>
          </a:prstGeom>
          <a:noFill/>
          <a:ln/>
        </p:spPr>
        <p:txBody>
          <a:bodyPr wrap="square" lIns="0" tIns="0" rIns="0" bIns="0" rtlCol="0" anchor="ctr"/>
          <a:lstStyle/>
          <a:p>
            <a:pPr indent="0" marL="0">
              <a:buNone/>
            </a:pPr>
            <a:r>
              <a:rPr lang="en-US" sz="2800" b="1" dirty="0">
                <a:solidFill>
                  <a:srgbClr val="1A1D23"/>
                </a:solidFill>
                <a:latin typeface="Cambria" pitchFamily="34" charset="0"/>
                <a:ea typeface="Cambria" pitchFamily="34" charset="-122"/>
                <a:cs typeface="Cambria" pitchFamily="34" charset="-120"/>
              </a:rPr>
              <a:t>5</a:t>
            </a:r>
            <a:endParaRPr lang="en-US" sz="2800" dirty="0"/>
          </a:p>
        </p:txBody>
      </p:sp>
      <p:sp>
        <p:nvSpPr>
          <p:cNvPr id="27" name="Text 25"/>
          <p:cNvSpPr txBox="1"/>
          <p:nvPr/>
        </p:nvSpPr>
        <p:spPr>
          <a:xfrm>
            <a:off x="9601200" y="3063240"/>
            <a:ext cx="1874520" cy="457200"/>
          </a:xfrm>
          <a:prstGeom prst="rect">
            <a:avLst/>
          </a:prstGeom>
          <a:noFill/>
          <a:ln/>
        </p:spPr>
        <p:txBody>
          <a:bodyPr wrap="square" lIns="0" tIns="0" rIns="0" bIns="0" rtlCol="0" anchor="ctr"/>
          <a:lstStyle/>
          <a:p>
            <a:pPr indent="0" marL="0">
              <a:lnSpc>
                <a:spcPct val="110000"/>
              </a:lnSpc>
              <a:buNone/>
            </a:pPr>
            <a:r>
              <a:rPr lang="en-US" sz="1150" dirty="0">
                <a:solidFill>
                  <a:srgbClr val="5B6270"/>
                </a:solidFill>
                <a:latin typeface="Calibri" pitchFamily="34" charset="0"/>
                <a:ea typeface="Calibri" pitchFamily="34" charset="-122"/>
                <a:cs typeface="Calibri" pitchFamily="34" charset="-120"/>
              </a:rPr>
              <a:t>AI verifications / search</a:t>
            </a:r>
            <a:endParaRPr lang="en-US" sz="1150" dirty="0"/>
          </a:p>
        </p:txBody>
      </p:sp>
      <p:sp>
        <p:nvSpPr>
          <p:cNvPr id="28" name="Shape 26"/>
          <p:cNvSpPr/>
          <p:nvPr/>
        </p:nvSpPr>
        <p:spPr>
          <a:xfrm>
            <a:off x="8229600" y="3886200"/>
            <a:ext cx="3429000" cy="868680"/>
          </a:xfrm>
          <a:prstGeom prst="roundRect">
            <a:avLst>
              <a:gd name="adj" fmla="val 6316"/>
            </a:avLst>
          </a:prstGeom>
          <a:solidFill>
            <a:srgbClr val="F4F5F7"/>
          </a:solidFill>
          <a:ln/>
        </p:spPr>
      </p:sp>
      <p:sp>
        <p:nvSpPr>
          <p:cNvPr id="29" name="Text 27"/>
          <p:cNvSpPr txBox="1"/>
          <p:nvPr/>
        </p:nvSpPr>
        <p:spPr>
          <a:xfrm>
            <a:off x="8412480" y="3977640"/>
            <a:ext cx="1188720" cy="502920"/>
          </a:xfrm>
          <a:prstGeom prst="rect">
            <a:avLst/>
          </a:prstGeom>
          <a:noFill/>
          <a:ln/>
        </p:spPr>
        <p:txBody>
          <a:bodyPr wrap="square" lIns="0" tIns="0" rIns="0" bIns="0" rtlCol="0" anchor="ctr"/>
          <a:lstStyle/>
          <a:p>
            <a:pPr indent="0" marL="0">
              <a:buNone/>
            </a:pPr>
            <a:r>
              <a:rPr lang="en-US" sz="2800" b="1" dirty="0">
                <a:solidFill>
                  <a:srgbClr val="1A1D23"/>
                </a:solidFill>
                <a:latin typeface="Cambria" pitchFamily="34" charset="0"/>
                <a:ea typeface="Cambria" pitchFamily="34" charset="-122"/>
                <a:cs typeface="Cambria" pitchFamily="34" charset="-120"/>
              </a:rPr>
              <a:t>70/30</a:t>
            </a:r>
            <a:endParaRPr lang="en-US" sz="2800" dirty="0"/>
          </a:p>
        </p:txBody>
      </p:sp>
      <p:sp>
        <p:nvSpPr>
          <p:cNvPr id="30" name="Text 28"/>
          <p:cNvSpPr txBox="1"/>
          <p:nvPr/>
        </p:nvSpPr>
        <p:spPr>
          <a:xfrm>
            <a:off x="9601200" y="4023360"/>
            <a:ext cx="1874520" cy="457200"/>
          </a:xfrm>
          <a:prstGeom prst="rect">
            <a:avLst/>
          </a:prstGeom>
          <a:noFill/>
          <a:ln/>
        </p:spPr>
        <p:txBody>
          <a:bodyPr wrap="square" lIns="0" tIns="0" rIns="0" bIns="0" rtlCol="0" anchor="ctr"/>
          <a:lstStyle/>
          <a:p>
            <a:pPr indent="0" marL="0">
              <a:lnSpc>
                <a:spcPct val="110000"/>
              </a:lnSpc>
              <a:buNone/>
            </a:pPr>
            <a:r>
              <a:rPr lang="en-US" sz="1150" dirty="0">
                <a:solidFill>
                  <a:srgbClr val="5B6270"/>
                </a:solidFill>
                <a:latin typeface="Calibri" pitchFamily="34" charset="0"/>
                <a:ea typeface="Calibri" pitchFamily="34" charset="-122"/>
                <a:cs typeface="Calibri" pitchFamily="34" charset="-120"/>
              </a:rPr>
              <a:t>vector / keyword blend</a:t>
            </a:r>
            <a:endParaRPr lang="en-US" sz="1150" dirty="0"/>
          </a:p>
        </p:txBody>
      </p:sp>
      <p:sp>
        <p:nvSpPr>
          <p:cNvPr id="31" name="Shape 29"/>
          <p:cNvSpPr/>
          <p:nvPr/>
        </p:nvSpPr>
        <p:spPr>
          <a:xfrm>
            <a:off x="8229600" y="4846320"/>
            <a:ext cx="3429000" cy="868680"/>
          </a:xfrm>
          <a:prstGeom prst="roundRect">
            <a:avLst>
              <a:gd name="adj" fmla="val 6316"/>
            </a:avLst>
          </a:prstGeom>
          <a:solidFill>
            <a:srgbClr val="F4F5F7"/>
          </a:solidFill>
          <a:ln/>
        </p:spPr>
      </p:sp>
      <p:sp>
        <p:nvSpPr>
          <p:cNvPr id="32" name="Text 30"/>
          <p:cNvSpPr txBox="1"/>
          <p:nvPr/>
        </p:nvSpPr>
        <p:spPr>
          <a:xfrm>
            <a:off x="8412480" y="4937760"/>
            <a:ext cx="1188720" cy="502920"/>
          </a:xfrm>
          <a:prstGeom prst="rect">
            <a:avLst/>
          </a:prstGeom>
          <a:noFill/>
          <a:ln/>
        </p:spPr>
        <p:txBody>
          <a:bodyPr wrap="square" lIns="0" tIns="0" rIns="0" bIns="0" rtlCol="0" anchor="ctr"/>
          <a:lstStyle/>
          <a:p>
            <a:pPr indent="0" marL="0">
              <a:buNone/>
            </a:pPr>
            <a:r>
              <a:rPr lang="en-US" sz="2800" b="1" dirty="0">
                <a:solidFill>
                  <a:srgbClr val="1A1D23"/>
                </a:solidFill>
                <a:latin typeface="Cambria" pitchFamily="34" charset="0"/>
                <a:ea typeface="Cambria" pitchFamily="34" charset="-122"/>
                <a:cs typeface="Cambria" pitchFamily="34" charset="-120"/>
              </a:rPr>
              <a:t>100%</a:t>
            </a:r>
            <a:endParaRPr lang="en-US" sz="2800" dirty="0"/>
          </a:p>
        </p:txBody>
      </p:sp>
      <p:sp>
        <p:nvSpPr>
          <p:cNvPr id="33" name="Text 31"/>
          <p:cNvSpPr txBox="1"/>
          <p:nvPr/>
        </p:nvSpPr>
        <p:spPr>
          <a:xfrm>
            <a:off x="9601200" y="4983480"/>
            <a:ext cx="1874520" cy="457200"/>
          </a:xfrm>
          <a:prstGeom prst="rect">
            <a:avLst/>
          </a:prstGeom>
          <a:noFill/>
          <a:ln/>
        </p:spPr>
        <p:txBody>
          <a:bodyPr wrap="square" lIns="0" tIns="0" rIns="0" bIns="0" rtlCol="0" anchor="ctr"/>
          <a:lstStyle/>
          <a:p>
            <a:pPr indent="0" marL="0">
              <a:lnSpc>
                <a:spcPct val="110000"/>
              </a:lnSpc>
              <a:buNone/>
            </a:pPr>
            <a:r>
              <a:rPr lang="en-US" sz="1150" dirty="0">
                <a:solidFill>
                  <a:srgbClr val="5B6270"/>
                </a:solidFill>
                <a:latin typeface="Calibri" pitchFamily="34" charset="0"/>
                <a:ea typeface="Calibri" pitchFamily="34" charset="-122"/>
                <a:cs typeface="Calibri" pitchFamily="34" charset="-120"/>
              </a:rPr>
              <a:t>local, nothing leaves</a:t>
            </a:r>
            <a:endParaRPr lang="en-US" sz="1150" dirty="0"/>
          </a:p>
        </p:txBody>
      </p:sp>
      <p:sp>
        <p:nvSpPr>
          <p:cNvPr id="34" name="Text 32"/>
          <p:cNvSpPr txBox="1"/>
          <p:nvPr/>
        </p:nvSpPr>
        <p:spPr>
          <a:xfrm>
            <a:off x="11365992" y="6400800"/>
            <a:ext cx="548640" cy="274320"/>
          </a:xfrm>
          <a:prstGeom prst="rect">
            <a:avLst/>
          </a:prstGeom>
          <a:noFill/>
          <a:ln/>
        </p:spPr>
        <p:txBody>
          <a:bodyPr wrap="square" lIns="0" tIns="0" rIns="0" bIns="0" rtlCol="0" anchor="ctr"/>
          <a:lstStyle/>
          <a:p>
            <a:pPr algn="r" indent="0" marL="0">
              <a:buNone/>
            </a:pPr>
            <a:r>
              <a:rPr lang="en-US" sz="1000" dirty="0">
                <a:solidFill>
                  <a:srgbClr val="5B6270"/>
                </a:solidFill>
                <a:latin typeface="Calibri" pitchFamily="34" charset="0"/>
                <a:ea typeface="Calibri" pitchFamily="34" charset="-122"/>
                <a:cs typeface="Calibri" pitchFamily="34" charset="-120"/>
              </a:rPr>
              <a:t>03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3282696" cy="347472"/>
          </a:xfrm>
          <a:prstGeom prst="roundRect">
            <a:avLst>
              <a:gd name="adj" fmla="val 10526"/>
            </a:avLst>
          </a:prstGeom>
          <a:solidFill>
            <a:srgbClr val="F4F5F7"/>
          </a:solidFill>
          <a:ln/>
        </p:spPr>
      </p:sp>
      <p:sp>
        <p:nvSpPr>
          <p:cNvPr id="3" name="Text 1"/>
          <p:cNvSpPr txBox="1"/>
          <p:nvPr/>
        </p:nvSpPr>
        <p:spPr>
          <a:xfrm>
            <a:off x="685800" y="384048"/>
            <a:ext cx="3099816" cy="292608"/>
          </a:xfrm>
          <a:prstGeom prst="rect">
            <a:avLst/>
          </a:prstGeom>
          <a:noFill/>
          <a:ln/>
        </p:spPr>
        <p:txBody>
          <a:bodyPr wrap="square" lIns="0" tIns="0" rIns="0" bIns="0" rtlCol="0" anchor="ctr"/>
          <a:lstStyle/>
          <a:p>
            <a:pPr indent="0" marL="0">
              <a:buNone/>
            </a:pPr>
            <a:r>
              <a:rPr lang="en-US" sz="1000" b="1" spc="200" kern="0" dirty="0">
                <a:solidFill>
                  <a:srgbClr val="C63F27"/>
                </a:solidFill>
                <a:latin typeface="Calibri" pitchFamily="34" charset="0"/>
                <a:ea typeface="Calibri" pitchFamily="34" charset="-122"/>
                <a:cs typeface="Calibri" pitchFamily="34" charset="-120"/>
              </a:rPr>
              <a:t>SOLUTION &amp; KEY FEATURES</a:t>
            </a:r>
            <a:endParaRPr lang="en-US" sz="1000" dirty="0"/>
          </a:p>
        </p:txBody>
      </p:sp>
      <p:sp>
        <p:nvSpPr>
          <p:cNvPr id="4" name="Text 2"/>
          <p:cNvSpPr txBox="1"/>
          <p:nvPr/>
        </p:nvSpPr>
        <p:spPr>
          <a:xfrm>
            <a:off x="548640" y="868680"/>
            <a:ext cx="11091672" cy="777240"/>
          </a:xfrm>
          <a:prstGeom prst="rect">
            <a:avLst/>
          </a:prstGeom>
          <a:noFill/>
          <a:ln/>
        </p:spPr>
        <p:txBody>
          <a:bodyPr wrap="square" lIns="0" tIns="0" rIns="0" bIns="0" rtlCol="0" anchor="ctr"/>
          <a:lstStyle/>
          <a:p>
            <a:pPr indent="0" marL="0">
              <a:buNone/>
            </a:pPr>
            <a:r>
              <a:rPr lang="en-US" sz="2600" b="1" dirty="0">
                <a:solidFill>
                  <a:srgbClr val="1A1D23"/>
                </a:solidFill>
                <a:latin typeface="Cambria" pitchFamily="34" charset="0"/>
                <a:ea typeface="Cambria" pitchFamily="34" charset="-122"/>
                <a:cs typeface="Cambria" pitchFamily="34" charset="-120"/>
              </a:rPr>
              <a:t>Every match is verified. When nothing fits, it says so.</a:t>
            </a:r>
            <a:endParaRPr lang="en-US" sz="2600" dirty="0"/>
          </a:p>
        </p:txBody>
      </p:sp>
      <p:pic>
        <p:nvPicPr>
          <p:cNvPr id="5" name="Image 0" descr="images/slide6_verification_cropped.png">    </p:cNvPr>
          <p:cNvPicPr>
            <a:picLocks noChangeAspect="1"/>
          </p:cNvPicPr>
          <p:nvPr/>
        </p:nvPicPr>
        <p:blipFill>
          <a:blip r:embed="rId1"/>
          <a:stretch>
            <a:fillRect/>
          </a:stretch>
        </p:blipFill>
        <p:spPr>
          <a:xfrm>
            <a:off x="548640" y="2011680"/>
            <a:ext cx="5486400" cy="2077125"/>
          </a:xfrm>
          <a:prstGeom prst="rect">
            <a:avLst/>
          </a:prstGeom>
        </p:spPr>
      </p:pic>
      <p:sp>
        <p:nvSpPr>
          <p:cNvPr id="6" name="Shape 3"/>
          <p:cNvSpPr/>
          <p:nvPr/>
        </p:nvSpPr>
        <p:spPr>
          <a:xfrm>
            <a:off x="548640" y="2011680"/>
            <a:ext cx="5486400" cy="2077125"/>
          </a:xfrm>
          <a:prstGeom prst="roundRect">
            <a:avLst>
              <a:gd name="adj" fmla="val 2201"/>
            </a:avLst>
          </a:prstGeom>
          <a:ln w="12700">
            <a:solidFill>
              <a:srgbClr val="E3E5E9"/>
            </a:solidFill>
            <a:prstDash val="solid"/>
          </a:ln>
        </p:spPr>
      </p:sp>
      <p:sp>
        <p:nvSpPr>
          <p:cNvPr id="7" name="Text 4"/>
          <p:cNvSpPr txBox="1"/>
          <p:nvPr/>
        </p:nvSpPr>
        <p:spPr>
          <a:xfrm>
            <a:off x="548640" y="4161957"/>
            <a:ext cx="5486400" cy="274320"/>
          </a:xfrm>
          <a:prstGeom prst="rect">
            <a:avLst/>
          </a:prstGeom>
          <a:noFill/>
          <a:ln/>
        </p:spPr>
        <p:txBody>
          <a:bodyPr wrap="square" lIns="0" tIns="0" rIns="0" bIns="0" rtlCol="0" anchor="ctr"/>
          <a:lstStyle/>
          <a:p>
            <a:pPr indent="0" marL="0">
              <a:buNone/>
            </a:pPr>
            <a:r>
              <a:rPr lang="en-US" sz="950" i="1" dirty="0">
                <a:solidFill>
                  <a:srgbClr val="5B6270"/>
                </a:solidFill>
                <a:latin typeface="Calibri" pitchFamily="34" charset="0"/>
                <a:ea typeface="Calibri" pitchFamily="34" charset="-122"/>
                <a:cs typeface="Calibri" pitchFamily="34" charset="-120"/>
              </a:rPr>
              <a:t>Refund query — 2 of 5 candidates verified relevant, 3 correctly rejected</a:t>
            </a:r>
            <a:endParaRPr lang="en-US" sz="950" dirty="0"/>
          </a:p>
        </p:txBody>
      </p:sp>
      <p:pic>
        <p:nvPicPr>
          <p:cNvPr id="8" name="Image 1" descr="images/slide7_bluetooth_cropped.png">    </p:cNvPr>
          <p:cNvPicPr>
            <a:picLocks noChangeAspect="1"/>
          </p:cNvPicPr>
          <p:nvPr/>
        </p:nvPicPr>
        <p:blipFill>
          <a:blip r:embed="rId2"/>
          <a:stretch>
            <a:fillRect/>
          </a:stretch>
        </p:blipFill>
        <p:spPr>
          <a:xfrm>
            <a:off x="6355080" y="2011680"/>
            <a:ext cx="5303520" cy="1395943"/>
          </a:xfrm>
          <a:prstGeom prst="rect">
            <a:avLst/>
          </a:prstGeom>
        </p:spPr>
      </p:pic>
      <p:sp>
        <p:nvSpPr>
          <p:cNvPr id="9" name="Shape 5"/>
          <p:cNvSpPr/>
          <p:nvPr/>
        </p:nvSpPr>
        <p:spPr>
          <a:xfrm>
            <a:off x="6355080" y="2011680"/>
            <a:ext cx="5303520" cy="1395943"/>
          </a:xfrm>
          <a:prstGeom prst="roundRect">
            <a:avLst>
              <a:gd name="adj" fmla="val 3275"/>
            </a:avLst>
          </a:prstGeom>
          <a:ln w="12700">
            <a:solidFill>
              <a:srgbClr val="E3E5E9"/>
            </a:solidFill>
            <a:prstDash val="solid"/>
          </a:ln>
        </p:spPr>
      </p:sp>
      <p:sp>
        <p:nvSpPr>
          <p:cNvPr id="10" name="Text 6"/>
          <p:cNvSpPr txBox="1"/>
          <p:nvPr/>
        </p:nvSpPr>
        <p:spPr>
          <a:xfrm>
            <a:off x="6355080" y="3480775"/>
            <a:ext cx="5303520" cy="274320"/>
          </a:xfrm>
          <a:prstGeom prst="rect">
            <a:avLst/>
          </a:prstGeom>
          <a:noFill/>
          <a:ln/>
        </p:spPr>
        <p:txBody>
          <a:bodyPr wrap="square" lIns="0" tIns="0" rIns="0" bIns="0" rtlCol="0" anchor="ctr"/>
          <a:lstStyle/>
          <a:p>
            <a:pPr indent="0" marL="0">
              <a:buNone/>
            </a:pPr>
            <a:r>
              <a:rPr lang="en-US" sz="950" i="1" dirty="0">
                <a:solidFill>
                  <a:srgbClr val="5B6270"/>
                </a:solidFill>
                <a:latin typeface="Calibri" pitchFamily="34" charset="0"/>
                <a:ea typeface="Calibri" pitchFamily="34" charset="-122"/>
                <a:cs typeface="Calibri" pitchFamily="34" charset="-120"/>
              </a:rPr>
              <a:t>Bluetooth query — no such bug exists; all 5 honestly rejected</a:t>
            </a:r>
            <a:endParaRPr lang="en-US" sz="950" dirty="0"/>
          </a:p>
        </p:txBody>
      </p:sp>
      <p:sp>
        <p:nvSpPr>
          <p:cNvPr id="11" name="Text 7"/>
          <p:cNvSpPr txBox="1"/>
          <p:nvPr/>
        </p:nvSpPr>
        <p:spPr>
          <a:xfrm>
            <a:off x="548640" y="4591725"/>
            <a:ext cx="11091672" cy="320040"/>
          </a:xfrm>
          <a:prstGeom prst="rect">
            <a:avLst/>
          </a:prstGeom>
          <a:noFill/>
          <a:ln/>
        </p:spPr>
        <p:txBody>
          <a:bodyPr wrap="square" lIns="0" tIns="0" rIns="0" bIns="0" rtlCol="0" anchor="ctr"/>
          <a:lstStyle/>
          <a:p>
            <a:pPr indent="0" marL="0">
              <a:buNone/>
            </a:pPr>
            <a:r>
              <a:rPr lang="en-US" sz="1250" b="1" dirty="0">
                <a:solidFill>
                  <a:srgbClr val="1FA97F"/>
                </a:solidFill>
                <a:latin typeface="Calibri" pitchFamily="34" charset="0"/>
                <a:ea typeface="Calibri" pitchFamily="34" charset="-122"/>
                <a:cs typeface="Calibri" pitchFamily="34" charset="-120"/>
              </a:rPr>
              <a:t>🟢 Match </a:t>
            </a:r>
            <a:pPr indent="0" marL="0">
              <a:buNone/>
            </a:pPr>
            <a:r>
              <a:rPr lang="en-US" sz="1250" dirty="0">
                <a:solidFill>
                  <a:srgbClr val="5B6270"/>
                </a:solidFill>
                <a:latin typeface="Calibri" pitchFamily="34" charset="0"/>
                <a:ea typeface="Calibri" pitchFamily="34" charset="-122"/>
                <a:cs typeface="Calibri" pitchFamily="34" charset="-120"/>
              </a:rPr>
              <a:t>(same root cause)   </a:t>
            </a:r>
            <a:pPr indent="0" marL="0">
              <a:buNone/>
            </a:pPr>
            <a:r>
              <a:rPr lang="en-US" sz="1250" b="1" dirty="0">
                <a:solidFill>
                  <a:srgbClr val="E0A934"/>
                </a:solidFill>
                <a:latin typeface="Calibri" pitchFamily="34" charset="0"/>
                <a:ea typeface="Calibri" pitchFamily="34" charset="-122"/>
                <a:cs typeface="Calibri" pitchFamily="34" charset="-120"/>
              </a:rPr>
              <a:t>🟡 Related </a:t>
            </a:r>
            <a:pPr indent="0" marL="0">
              <a:buNone/>
            </a:pPr>
            <a:r>
              <a:rPr lang="en-US" sz="1250" dirty="0">
                <a:solidFill>
                  <a:srgbClr val="5B6270"/>
                </a:solidFill>
                <a:latin typeface="Calibri" pitchFamily="34" charset="0"/>
                <a:ea typeface="Calibri" pitchFamily="34" charset="-122"/>
                <a:cs typeface="Calibri" pitchFamily="34" charset="-120"/>
              </a:rPr>
              <a:t>(same feature, different issue)   </a:t>
            </a:r>
            <a:pPr indent="0" marL="0">
              <a:buNone/>
            </a:pPr>
            <a:r>
              <a:rPr lang="en-US" sz="1250" b="1" dirty="0">
                <a:solidFill>
                  <a:srgbClr val="E14B4B"/>
                </a:solidFill>
                <a:latin typeface="Calibri" pitchFamily="34" charset="0"/>
                <a:ea typeface="Calibri" pitchFamily="34" charset="-122"/>
                <a:cs typeface="Calibri" pitchFamily="34" charset="-120"/>
              </a:rPr>
              <a:t>🔴 Not relevant </a:t>
            </a:r>
            <a:pPr indent="0" marL="0">
              <a:buNone/>
            </a:pPr>
            <a:r>
              <a:rPr lang="en-US" sz="1250" dirty="0">
                <a:solidFill>
                  <a:srgbClr val="5B6270"/>
                </a:solidFill>
                <a:latin typeface="Calibri" pitchFamily="34" charset="0"/>
                <a:ea typeface="Calibri" pitchFamily="34" charset="-122"/>
                <a:cs typeface="Calibri" pitchFamily="34" charset="-120"/>
              </a:rPr>
              <a:t>(different feature entirely)</a:t>
            </a:r>
            <a:endParaRPr lang="en-US" sz="1250" dirty="0"/>
          </a:p>
        </p:txBody>
      </p:sp>
      <p:sp>
        <p:nvSpPr>
          <p:cNvPr id="12" name="Text 8"/>
          <p:cNvSpPr txBox="1"/>
          <p:nvPr/>
        </p:nvSpPr>
        <p:spPr>
          <a:xfrm>
            <a:off x="548640" y="4957485"/>
            <a:ext cx="11091672" cy="274320"/>
          </a:xfrm>
          <a:prstGeom prst="rect">
            <a:avLst/>
          </a:prstGeom>
          <a:noFill/>
          <a:ln/>
        </p:spPr>
        <p:txBody>
          <a:bodyPr wrap="square" lIns="0" tIns="0" rIns="0" bIns="0" rtlCol="0" anchor="ctr"/>
          <a:lstStyle/>
          <a:p>
            <a:pPr indent="0" marL="0">
              <a:buNone/>
            </a:pPr>
            <a:r>
              <a:rPr lang="en-US" sz="1200" dirty="0">
                <a:solidFill>
                  <a:srgbClr val="5B6270"/>
                </a:solidFill>
                <a:latin typeface="Calibri" pitchFamily="34" charset="0"/>
                <a:ea typeface="Calibri" pitchFamily="34" charset="-122"/>
                <a:cs typeface="Calibri" pitchFamily="34" charset="-120"/>
              </a:rPr>
              <a:t>The answer only cites verified bugs. Rejected ones stay visible for transparency — never silently hidden.</a:t>
            </a:r>
            <a:endParaRPr lang="en-US" sz="1200" dirty="0"/>
          </a:p>
        </p:txBody>
      </p:sp>
      <p:sp>
        <p:nvSpPr>
          <p:cNvPr id="13" name="Text 9"/>
          <p:cNvSpPr txBox="1"/>
          <p:nvPr/>
        </p:nvSpPr>
        <p:spPr>
          <a:xfrm>
            <a:off x="11365992" y="6400800"/>
            <a:ext cx="548640" cy="274320"/>
          </a:xfrm>
          <a:prstGeom prst="rect">
            <a:avLst/>
          </a:prstGeom>
          <a:noFill/>
          <a:ln/>
        </p:spPr>
        <p:txBody>
          <a:bodyPr wrap="square" lIns="0" tIns="0" rIns="0" bIns="0" rtlCol="0" anchor="ctr"/>
          <a:lstStyle/>
          <a:p>
            <a:pPr algn="r" indent="0" marL="0">
              <a:buNone/>
            </a:pPr>
            <a:r>
              <a:rPr lang="en-US" sz="1000" dirty="0">
                <a:solidFill>
                  <a:srgbClr val="5B6270"/>
                </a:solidFill>
                <a:latin typeface="Calibri" pitchFamily="34" charset="0"/>
                <a:ea typeface="Calibri" pitchFamily="34" charset="-122"/>
                <a:cs typeface="Calibri" pitchFamily="34" charset="-120"/>
              </a:rPr>
              <a:t>04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3282696" cy="347472"/>
          </a:xfrm>
          <a:prstGeom prst="roundRect">
            <a:avLst>
              <a:gd name="adj" fmla="val 10526"/>
            </a:avLst>
          </a:prstGeom>
          <a:solidFill>
            <a:srgbClr val="F4F5F7"/>
          </a:solidFill>
          <a:ln/>
        </p:spPr>
      </p:sp>
      <p:sp>
        <p:nvSpPr>
          <p:cNvPr id="3" name="Text 1"/>
          <p:cNvSpPr txBox="1"/>
          <p:nvPr/>
        </p:nvSpPr>
        <p:spPr>
          <a:xfrm>
            <a:off x="685800" y="384048"/>
            <a:ext cx="3099816" cy="292608"/>
          </a:xfrm>
          <a:prstGeom prst="rect">
            <a:avLst/>
          </a:prstGeom>
          <a:noFill/>
          <a:ln/>
        </p:spPr>
        <p:txBody>
          <a:bodyPr wrap="square" lIns="0" tIns="0" rIns="0" bIns="0" rtlCol="0" anchor="ctr"/>
          <a:lstStyle/>
          <a:p>
            <a:pPr indent="0" marL="0">
              <a:buNone/>
            </a:pPr>
            <a:r>
              <a:rPr lang="en-US" sz="1000" b="1" spc="200" kern="0" dirty="0">
                <a:solidFill>
                  <a:srgbClr val="C63F27"/>
                </a:solidFill>
                <a:latin typeface="Calibri" pitchFamily="34" charset="0"/>
                <a:ea typeface="Calibri" pitchFamily="34" charset="-122"/>
                <a:cs typeface="Calibri" pitchFamily="34" charset="-120"/>
              </a:rPr>
              <a:t>BUSINESS VALUE &amp; IMPACT</a:t>
            </a:r>
            <a:endParaRPr lang="en-US" sz="1000" dirty="0"/>
          </a:p>
        </p:txBody>
      </p:sp>
      <p:sp>
        <p:nvSpPr>
          <p:cNvPr id="4" name="Text 2"/>
          <p:cNvSpPr txBox="1"/>
          <p:nvPr/>
        </p:nvSpPr>
        <p:spPr>
          <a:xfrm>
            <a:off x="548640" y="868680"/>
            <a:ext cx="11091672" cy="777240"/>
          </a:xfrm>
          <a:prstGeom prst="rect">
            <a:avLst/>
          </a:prstGeom>
          <a:noFill/>
          <a:ln/>
        </p:spPr>
        <p:txBody>
          <a:bodyPr wrap="square" lIns="0" tIns="0" rIns="0" bIns="0" rtlCol="0" anchor="ctr"/>
          <a:lstStyle/>
          <a:p>
            <a:pPr indent="0" marL="0">
              <a:buNone/>
            </a:pPr>
            <a:r>
              <a:rPr lang="en-US" sz="3000" b="1" dirty="0">
                <a:solidFill>
                  <a:srgbClr val="1A1D23"/>
                </a:solidFill>
                <a:latin typeface="Cambria" pitchFamily="34" charset="0"/>
                <a:ea typeface="Cambria" pitchFamily="34" charset="-122"/>
                <a:cs typeface="Cambria" pitchFamily="34" charset="-120"/>
              </a:rPr>
              <a:t>From manually scanning the tracker to one verified answer.</a:t>
            </a:r>
            <a:endParaRPr lang="en-US" sz="3000" dirty="0"/>
          </a:p>
        </p:txBody>
      </p:sp>
      <p:sp>
        <p:nvSpPr>
          <p:cNvPr id="5" name="Text 3"/>
          <p:cNvSpPr txBox="1"/>
          <p:nvPr/>
        </p:nvSpPr>
        <p:spPr>
          <a:xfrm>
            <a:off x="548640" y="2011680"/>
            <a:ext cx="4572000" cy="274320"/>
          </a:xfrm>
          <a:prstGeom prst="rect">
            <a:avLst/>
          </a:prstGeom>
          <a:noFill/>
          <a:ln/>
        </p:spPr>
        <p:txBody>
          <a:bodyPr wrap="square" lIns="0" tIns="0" rIns="0" bIns="0" rtlCol="0" anchor="ctr"/>
          <a:lstStyle/>
          <a:p>
            <a:pPr indent="0" marL="0">
              <a:buNone/>
            </a:pPr>
            <a:r>
              <a:rPr lang="en-US" sz="1100" b="1" spc="150" kern="0" dirty="0">
                <a:solidFill>
                  <a:srgbClr val="C63F27"/>
                </a:solidFill>
                <a:latin typeface="Calibri" pitchFamily="34" charset="0"/>
                <a:ea typeface="Calibri" pitchFamily="34" charset="-122"/>
                <a:cs typeface="Calibri" pitchFamily="34" charset="-120"/>
              </a:rPr>
              <a:t>QUANTIFIED IMPACT</a:t>
            </a:r>
            <a:endParaRPr lang="en-US" sz="1100" dirty="0"/>
          </a:p>
        </p:txBody>
      </p:sp>
      <p:sp>
        <p:nvSpPr>
          <p:cNvPr id="6" name="Shape 4"/>
          <p:cNvSpPr/>
          <p:nvPr/>
        </p:nvSpPr>
        <p:spPr>
          <a:xfrm>
            <a:off x="548640" y="2423160"/>
            <a:ext cx="5303520" cy="868680"/>
          </a:xfrm>
          <a:prstGeom prst="roundRect">
            <a:avLst>
              <a:gd name="adj" fmla="val 8421"/>
            </a:avLst>
          </a:prstGeom>
          <a:solidFill>
            <a:srgbClr val="F4F5F7"/>
          </a:solidFill>
          <a:ln/>
        </p:spPr>
      </p:sp>
      <p:sp>
        <p:nvSpPr>
          <p:cNvPr id="7" name="Text 5"/>
          <p:cNvSpPr txBox="1"/>
          <p:nvPr/>
        </p:nvSpPr>
        <p:spPr>
          <a:xfrm>
            <a:off x="731520" y="2496312"/>
            <a:ext cx="4937760" cy="274320"/>
          </a:xfrm>
          <a:prstGeom prst="rect">
            <a:avLst/>
          </a:prstGeom>
          <a:noFill/>
          <a:ln/>
        </p:spPr>
        <p:txBody>
          <a:bodyPr wrap="square" lIns="0" tIns="0" rIns="0" bIns="0" rtlCol="0" anchor="ctr"/>
          <a:lstStyle/>
          <a:p>
            <a:pPr indent="0" marL="0">
              <a:buNone/>
            </a:pPr>
            <a:r>
              <a:rPr lang="en-US" sz="1400" b="1" dirty="0">
                <a:solidFill>
                  <a:srgbClr val="1A1D23"/>
                </a:solidFill>
                <a:latin typeface="Calibri" pitchFamily="34" charset="0"/>
                <a:ea typeface="Calibri" pitchFamily="34" charset="-122"/>
                <a:cs typeface="Calibri" pitchFamily="34" charset="-120"/>
              </a:rPr>
              <a:t>One question, not 60 tickets</a:t>
            </a:r>
            <a:endParaRPr lang="en-US" sz="1400" dirty="0"/>
          </a:p>
        </p:txBody>
      </p:sp>
      <p:sp>
        <p:nvSpPr>
          <p:cNvPr id="8" name="Text 6"/>
          <p:cNvSpPr txBox="1"/>
          <p:nvPr/>
        </p:nvSpPr>
        <p:spPr>
          <a:xfrm>
            <a:off x="731520" y="2788920"/>
            <a:ext cx="4937760" cy="457200"/>
          </a:xfrm>
          <a:prstGeom prst="rect">
            <a:avLst/>
          </a:prstGeom>
          <a:noFill/>
          <a:ln/>
        </p:spPr>
        <p:txBody>
          <a:bodyPr wrap="square" lIns="0" tIns="0" rIns="0" bIns="0" rtlCol="0" anchor="ctr"/>
          <a:lstStyle/>
          <a:p>
            <a:pPr indent="0" marL="0">
              <a:lnSpc>
                <a:spcPct val="115000"/>
              </a:lnSpc>
              <a:buNone/>
            </a:pPr>
            <a:r>
              <a:rPr lang="en-US" sz="1100" dirty="0">
                <a:solidFill>
                  <a:srgbClr val="5B6270"/>
                </a:solidFill>
                <a:latin typeface="Calibri" pitchFamily="34" charset="0"/>
                <a:ea typeface="Calibri" pitchFamily="34" charset="-122"/>
                <a:cs typeface="Calibri" pitchFamily="34" charset="-120"/>
              </a:rPr>
              <a:t>Finding a historically-similar bug — from manually opening and reading every candidate ticket, to one typed question, answered live in this demo</a:t>
            </a:r>
            <a:endParaRPr lang="en-US" sz="1100" dirty="0"/>
          </a:p>
        </p:txBody>
      </p:sp>
      <p:sp>
        <p:nvSpPr>
          <p:cNvPr id="9" name="Shape 7"/>
          <p:cNvSpPr/>
          <p:nvPr/>
        </p:nvSpPr>
        <p:spPr>
          <a:xfrm>
            <a:off x="548640" y="3383280"/>
            <a:ext cx="5303520" cy="868680"/>
          </a:xfrm>
          <a:prstGeom prst="roundRect">
            <a:avLst>
              <a:gd name="adj" fmla="val 8421"/>
            </a:avLst>
          </a:prstGeom>
          <a:solidFill>
            <a:srgbClr val="F4F5F7"/>
          </a:solidFill>
          <a:ln/>
        </p:spPr>
      </p:sp>
      <p:sp>
        <p:nvSpPr>
          <p:cNvPr id="10" name="Text 8"/>
          <p:cNvSpPr txBox="1"/>
          <p:nvPr/>
        </p:nvSpPr>
        <p:spPr>
          <a:xfrm>
            <a:off x="731520" y="3456432"/>
            <a:ext cx="4937760" cy="274320"/>
          </a:xfrm>
          <a:prstGeom prst="rect">
            <a:avLst/>
          </a:prstGeom>
          <a:noFill/>
          <a:ln/>
        </p:spPr>
        <p:txBody>
          <a:bodyPr wrap="square" lIns="0" tIns="0" rIns="0" bIns="0" rtlCol="0" anchor="ctr"/>
          <a:lstStyle/>
          <a:p>
            <a:pPr indent="0" marL="0">
              <a:buNone/>
            </a:pPr>
            <a:r>
              <a:rPr lang="en-US" sz="1400" b="1" dirty="0">
                <a:solidFill>
                  <a:srgbClr val="1A1D23"/>
                </a:solidFill>
                <a:latin typeface="Calibri" pitchFamily="34" charset="0"/>
                <a:ea typeface="Calibri" pitchFamily="34" charset="-122"/>
                <a:cs typeface="Calibri" pitchFamily="34" charset="-120"/>
              </a:rPr>
              <a:t>Zero hallucinated citations</a:t>
            </a:r>
            <a:endParaRPr lang="en-US" sz="1400" dirty="0"/>
          </a:p>
        </p:txBody>
      </p:sp>
      <p:sp>
        <p:nvSpPr>
          <p:cNvPr id="11" name="Text 9"/>
          <p:cNvSpPr txBox="1"/>
          <p:nvPr/>
        </p:nvSpPr>
        <p:spPr>
          <a:xfrm>
            <a:off x="731520" y="3749040"/>
            <a:ext cx="4937760" cy="457200"/>
          </a:xfrm>
          <a:prstGeom prst="rect">
            <a:avLst/>
          </a:prstGeom>
          <a:noFill/>
          <a:ln/>
        </p:spPr>
        <p:txBody>
          <a:bodyPr wrap="square" lIns="0" tIns="0" rIns="0" bIns="0" rtlCol="0" anchor="ctr"/>
          <a:lstStyle/>
          <a:p>
            <a:pPr indent="0" marL="0">
              <a:lnSpc>
                <a:spcPct val="115000"/>
              </a:lnSpc>
              <a:buNone/>
            </a:pPr>
            <a:r>
              <a:rPr lang="en-US" sz="1100" dirty="0">
                <a:solidFill>
                  <a:srgbClr val="5B6270"/>
                </a:solidFill>
                <a:latin typeface="Calibri" pitchFamily="34" charset="0"/>
                <a:ea typeface="Calibri" pitchFamily="34" charset="-122"/>
                <a:cs typeface="Calibri" pitchFamily="34" charset="-120"/>
              </a:rPr>
              <a:t>Every cited bug ID is validated in Python before it reaches the screen — the AI cannot fabricate a reference</a:t>
            </a:r>
            <a:endParaRPr lang="en-US" sz="1100" dirty="0"/>
          </a:p>
        </p:txBody>
      </p:sp>
      <p:sp>
        <p:nvSpPr>
          <p:cNvPr id="12" name="Shape 10"/>
          <p:cNvSpPr/>
          <p:nvPr/>
        </p:nvSpPr>
        <p:spPr>
          <a:xfrm>
            <a:off x="548640" y="4343400"/>
            <a:ext cx="5303520" cy="868680"/>
          </a:xfrm>
          <a:prstGeom prst="roundRect">
            <a:avLst>
              <a:gd name="adj" fmla="val 8421"/>
            </a:avLst>
          </a:prstGeom>
          <a:solidFill>
            <a:srgbClr val="F4F5F7"/>
          </a:solidFill>
          <a:ln/>
        </p:spPr>
      </p:sp>
      <p:sp>
        <p:nvSpPr>
          <p:cNvPr id="13" name="Text 11"/>
          <p:cNvSpPr txBox="1"/>
          <p:nvPr/>
        </p:nvSpPr>
        <p:spPr>
          <a:xfrm>
            <a:off x="731520" y="4416552"/>
            <a:ext cx="4937760" cy="274320"/>
          </a:xfrm>
          <a:prstGeom prst="rect">
            <a:avLst/>
          </a:prstGeom>
          <a:noFill/>
          <a:ln/>
        </p:spPr>
        <p:txBody>
          <a:bodyPr wrap="square" lIns="0" tIns="0" rIns="0" bIns="0" rtlCol="0" anchor="ctr"/>
          <a:lstStyle/>
          <a:p>
            <a:pPr indent="0" marL="0">
              <a:buNone/>
            </a:pPr>
            <a:r>
              <a:rPr lang="en-US" sz="1400" b="1" dirty="0">
                <a:solidFill>
                  <a:srgbClr val="1A1D23"/>
                </a:solidFill>
                <a:latin typeface="Calibri" pitchFamily="34" charset="0"/>
                <a:ea typeface="Calibri" pitchFamily="34" charset="-122"/>
                <a:cs typeface="Calibri" pitchFamily="34" charset="-120"/>
              </a:rPr>
              <a:t>Deterministic release gate</a:t>
            </a:r>
            <a:endParaRPr lang="en-US" sz="1400" dirty="0"/>
          </a:p>
        </p:txBody>
      </p:sp>
      <p:sp>
        <p:nvSpPr>
          <p:cNvPr id="14" name="Text 12"/>
          <p:cNvSpPr txBox="1"/>
          <p:nvPr/>
        </p:nvSpPr>
        <p:spPr>
          <a:xfrm>
            <a:off x="731520" y="4709160"/>
            <a:ext cx="4937760" cy="457200"/>
          </a:xfrm>
          <a:prstGeom prst="rect">
            <a:avLst/>
          </a:prstGeom>
          <a:noFill/>
          <a:ln/>
        </p:spPr>
        <p:txBody>
          <a:bodyPr wrap="square" lIns="0" tIns="0" rIns="0" bIns="0" rtlCol="0" anchor="ctr"/>
          <a:lstStyle/>
          <a:p>
            <a:pPr indent="0" marL="0">
              <a:lnSpc>
                <a:spcPct val="115000"/>
              </a:lnSpc>
              <a:buNone/>
            </a:pPr>
            <a:r>
              <a:rPr lang="en-US" sz="1100" dirty="0">
                <a:solidFill>
                  <a:srgbClr val="5B6270"/>
                </a:solidFill>
                <a:latin typeface="Calibri" pitchFamily="34" charset="0"/>
                <a:ea typeface="Calibri" pitchFamily="34" charset="-122"/>
                <a:cs typeface="Calibri" pitchFamily="34" charset="-120"/>
              </a:rPr>
              <a:t>GO/NO-GO decisions are auditable, repeatable, and not dependent on who ran the check or when</a:t>
            </a:r>
            <a:endParaRPr lang="en-US" sz="1100" dirty="0"/>
          </a:p>
        </p:txBody>
      </p:sp>
      <p:sp>
        <p:nvSpPr>
          <p:cNvPr id="15" name="Shape 13"/>
          <p:cNvSpPr/>
          <p:nvPr/>
        </p:nvSpPr>
        <p:spPr>
          <a:xfrm>
            <a:off x="548640" y="5303520"/>
            <a:ext cx="5303520" cy="868680"/>
          </a:xfrm>
          <a:prstGeom prst="roundRect">
            <a:avLst>
              <a:gd name="adj" fmla="val 8421"/>
            </a:avLst>
          </a:prstGeom>
          <a:solidFill>
            <a:srgbClr val="F4F5F7"/>
          </a:solidFill>
          <a:ln/>
        </p:spPr>
      </p:sp>
      <p:sp>
        <p:nvSpPr>
          <p:cNvPr id="16" name="Text 14"/>
          <p:cNvSpPr txBox="1"/>
          <p:nvPr/>
        </p:nvSpPr>
        <p:spPr>
          <a:xfrm>
            <a:off x="731520" y="5376672"/>
            <a:ext cx="4937760" cy="274320"/>
          </a:xfrm>
          <a:prstGeom prst="rect">
            <a:avLst/>
          </a:prstGeom>
          <a:noFill/>
          <a:ln/>
        </p:spPr>
        <p:txBody>
          <a:bodyPr wrap="square" lIns="0" tIns="0" rIns="0" bIns="0" rtlCol="0" anchor="ctr"/>
          <a:lstStyle/>
          <a:p>
            <a:pPr indent="0" marL="0">
              <a:buNone/>
            </a:pPr>
            <a:r>
              <a:rPr lang="en-US" sz="1400" b="1" dirty="0">
                <a:solidFill>
                  <a:srgbClr val="1A1D23"/>
                </a:solidFill>
                <a:latin typeface="Calibri" pitchFamily="34" charset="0"/>
                <a:ea typeface="Calibri" pitchFamily="34" charset="-122"/>
                <a:cs typeface="Calibri" pitchFamily="34" charset="-120"/>
              </a:rPr>
              <a:t>100% local execution</a:t>
            </a:r>
            <a:endParaRPr lang="en-US" sz="1400" dirty="0"/>
          </a:p>
        </p:txBody>
      </p:sp>
      <p:sp>
        <p:nvSpPr>
          <p:cNvPr id="17" name="Text 15"/>
          <p:cNvSpPr txBox="1"/>
          <p:nvPr/>
        </p:nvSpPr>
        <p:spPr>
          <a:xfrm>
            <a:off x="731520" y="5669280"/>
            <a:ext cx="4937760" cy="457200"/>
          </a:xfrm>
          <a:prstGeom prst="rect">
            <a:avLst/>
          </a:prstGeom>
          <a:noFill/>
          <a:ln/>
        </p:spPr>
        <p:txBody>
          <a:bodyPr wrap="square" lIns="0" tIns="0" rIns="0" bIns="0" rtlCol="0" anchor="ctr"/>
          <a:lstStyle/>
          <a:p>
            <a:pPr indent="0" marL="0">
              <a:lnSpc>
                <a:spcPct val="115000"/>
              </a:lnSpc>
              <a:buNone/>
            </a:pPr>
            <a:r>
              <a:rPr lang="en-US" sz="1100" dirty="0">
                <a:solidFill>
                  <a:srgbClr val="5B6270"/>
                </a:solidFill>
                <a:latin typeface="Calibri" pitchFamily="34" charset="0"/>
                <a:ea typeface="Calibri" pitchFamily="34" charset="-122"/>
                <a:cs typeface="Calibri" pitchFamily="34" charset="-120"/>
              </a:rPr>
              <a:t>No bug data, ticket text, or resolution detail ever leaves the developer’s machine — critical for client-facing projects</a:t>
            </a:r>
            <a:endParaRPr lang="en-US" sz="1100" dirty="0"/>
          </a:p>
        </p:txBody>
      </p:sp>
      <p:sp>
        <p:nvSpPr>
          <p:cNvPr id="18" name="Text 16"/>
          <p:cNvSpPr txBox="1"/>
          <p:nvPr/>
        </p:nvSpPr>
        <p:spPr>
          <a:xfrm>
            <a:off x="6400800" y="2011680"/>
            <a:ext cx="4572000" cy="274320"/>
          </a:xfrm>
          <a:prstGeom prst="rect">
            <a:avLst/>
          </a:prstGeom>
          <a:noFill/>
          <a:ln/>
        </p:spPr>
        <p:txBody>
          <a:bodyPr wrap="square" lIns="0" tIns="0" rIns="0" bIns="0" rtlCol="0" anchor="ctr"/>
          <a:lstStyle/>
          <a:p>
            <a:pPr indent="0" marL="0">
              <a:buNone/>
            </a:pPr>
            <a:r>
              <a:rPr lang="en-US" sz="1100" b="1" spc="150" kern="0" dirty="0">
                <a:solidFill>
                  <a:srgbClr val="C63F27"/>
                </a:solidFill>
                <a:latin typeface="Calibri" pitchFamily="34" charset="0"/>
                <a:ea typeface="Calibri" pitchFamily="34" charset="-122"/>
                <a:cs typeface="Calibri" pitchFamily="34" charset="-120"/>
              </a:rPr>
              <a:t>WHO BENEFITS</a:t>
            </a:r>
            <a:endParaRPr lang="en-US" sz="1100" dirty="0"/>
          </a:p>
        </p:txBody>
      </p:sp>
      <p:sp>
        <p:nvSpPr>
          <p:cNvPr id="19" name="Shape 17"/>
          <p:cNvSpPr/>
          <p:nvPr/>
        </p:nvSpPr>
        <p:spPr>
          <a:xfrm>
            <a:off x="6400800" y="2423160"/>
            <a:ext cx="5257800" cy="868680"/>
          </a:xfrm>
          <a:prstGeom prst="roundRect">
            <a:avLst>
              <a:gd name="adj" fmla="val 8421"/>
            </a:avLst>
          </a:prstGeom>
          <a:solidFill>
            <a:srgbClr val="F4F5F7"/>
          </a:solidFill>
          <a:ln/>
        </p:spPr>
      </p:sp>
      <p:sp>
        <p:nvSpPr>
          <p:cNvPr id="20" name="Text 18"/>
          <p:cNvSpPr txBox="1"/>
          <p:nvPr/>
        </p:nvSpPr>
        <p:spPr>
          <a:xfrm>
            <a:off x="6583680" y="2496312"/>
            <a:ext cx="4846320" cy="274320"/>
          </a:xfrm>
          <a:prstGeom prst="rect">
            <a:avLst/>
          </a:prstGeom>
          <a:noFill/>
          <a:ln/>
        </p:spPr>
        <p:txBody>
          <a:bodyPr wrap="square" lIns="0" tIns="0" rIns="0" bIns="0" rtlCol="0" anchor="ctr"/>
          <a:lstStyle/>
          <a:p>
            <a:pPr indent="0" marL="0">
              <a:buNone/>
            </a:pPr>
            <a:r>
              <a:rPr lang="en-US" sz="1400" b="1" dirty="0">
                <a:solidFill>
                  <a:srgbClr val="1A1D23"/>
                </a:solidFill>
                <a:latin typeface="Calibri" pitchFamily="34" charset="0"/>
                <a:ea typeface="Calibri" pitchFamily="34" charset="-122"/>
                <a:cs typeface="Calibri" pitchFamily="34" charset="-120"/>
              </a:rPr>
              <a:t>QA Engineers</a:t>
            </a:r>
            <a:endParaRPr lang="en-US" sz="1400" dirty="0"/>
          </a:p>
        </p:txBody>
      </p:sp>
      <p:sp>
        <p:nvSpPr>
          <p:cNvPr id="21" name="Text 19"/>
          <p:cNvSpPr txBox="1"/>
          <p:nvPr/>
        </p:nvSpPr>
        <p:spPr>
          <a:xfrm>
            <a:off x="6583680" y="2788920"/>
            <a:ext cx="4846320" cy="457200"/>
          </a:xfrm>
          <a:prstGeom prst="rect">
            <a:avLst/>
          </a:prstGeom>
          <a:noFill/>
          <a:ln/>
        </p:spPr>
        <p:txBody>
          <a:bodyPr wrap="square" lIns="0" tIns="0" rIns="0" bIns="0" rtlCol="0" anchor="ctr"/>
          <a:lstStyle/>
          <a:p>
            <a:pPr indent="0" marL="0">
              <a:lnSpc>
                <a:spcPct val="115000"/>
              </a:lnSpc>
              <a:buNone/>
            </a:pPr>
            <a:r>
              <a:rPr lang="en-US" sz="1100" dirty="0">
                <a:solidFill>
                  <a:srgbClr val="5B6270"/>
                </a:solidFill>
                <a:latin typeface="Calibri" pitchFamily="34" charset="0"/>
                <a:ea typeface="Calibri" pitchFamily="34" charset="-122"/>
                <a:cs typeface="Calibri" pitchFamily="34" charset="-120"/>
              </a:rPr>
              <a:t>Find similar past bugs in seconds instead of hours — with verified, cited evidence, not just keyword matches</a:t>
            </a:r>
            <a:endParaRPr lang="en-US" sz="1100" dirty="0"/>
          </a:p>
        </p:txBody>
      </p:sp>
      <p:sp>
        <p:nvSpPr>
          <p:cNvPr id="22" name="Shape 20"/>
          <p:cNvSpPr/>
          <p:nvPr/>
        </p:nvSpPr>
        <p:spPr>
          <a:xfrm>
            <a:off x="6400800" y="3383280"/>
            <a:ext cx="5257800" cy="868680"/>
          </a:xfrm>
          <a:prstGeom prst="roundRect">
            <a:avLst>
              <a:gd name="adj" fmla="val 8421"/>
            </a:avLst>
          </a:prstGeom>
          <a:solidFill>
            <a:srgbClr val="F4F5F7"/>
          </a:solidFill>
          <a:ln/>
        </p:spPr>
      </p:sp>
      <p:sp>
        <p:nvSpPr>
          <p:cNvPr id="23" name="Text 21"/>
          <p:cNvSpPr txBox="1"/>
          <p:nvPr/>
        </p:nvSpPr>
        <p:spPr>
          <a:xfrm>
            <a:off x="6583680" y="3456432"/>
            <a:ext cx="4846320" cy="274320"/>
          </a:xfrm>
          <a:prstGeom prst="rect">
            <a:avLst/>
          </a:prstGeom>
          <a:noFill/>
          <a:ln/>
        </p:spPr>
        <p:txBody>
          <a:bodyPr wrap="square" lIns="0" tIns="0" rIns="0" bIns="0" rtlCol="0" anchor="ctr"/>
          <a:lstStyle/>
          <a:p>
            <a:pPr indent="0" marL="0">
              <a:buNone/>
            </a:pPr>
            <a:r>
              <a:rPr lang="en-US" sz="1400" b="1" dirty="0">
                <a:solidFill>
                  <a:srgbClr val="1A1D23"/>
                </a:solidFill>
                <a:latin typeface="Calibri" pitchFamily="34" charset="0"/>
                <a:ea typeface="Calibri" pitchFamily="34" charset="-122"/>
                <a:cs typeface="Calibri" pitchFamily="34" charset="-120"/>
              </a:rPr>
              <a:t>Release Managers</a:t>
            </a:r>
            <a:endParaRPr lang="en-US" sz="1400" dirty="0"/>
          </a:p>
        </p:txBody>
      </p:sp>
      <p:sp>
        <p:nvSpPr>
          <p:cNvPr id="24" name="Text 22"/>
          <p:cNvSpPr txBox="1"/>
          <p:nvPr/>
        </p:nvSpPr>
        <p:spPr>
          <a:xfrm>
            <a:off x="6583680" y="3749040"/>
            <a:ext cx="4846320" cy="457200"/>
          </a:xfrm>
          <a:prstGeom prst="rect">
            <a:avLst/>
          </a:prstGeom>
          <a:noFill/>
          <a:ln/>
        </p:spPr>
        <p:txBody>
          <a:bodyPr wrap="square" lIns="0" tIns="0" rIns="0" bIns="0" rtlCol="0" anchor="ctr"/>
          <a:lstStyle/>
          <a:p>
            <a:pPr indent="0" marL="0">
              <a:lnSpc>
                <a:spcPct val="115000"/>
              </a:lnSpc>
              <a:buNone/>
            </a:pPr>
            <a:r>
              <a:rPr lang="en-US" sz="1100" dirty="0">
                <a:solidFill>
                  <a:srgbClr val="5B6270"/>
                </a:solidFill>
                <a:latin typeface="Calibri" pitchFamily="34" charset="0"/>
                <a:ea typeface="Calibri" pitchFamily="34" charset="-122"/>
                <a:cs typeface="Calibri" pitchFamily="34" charset="-120"/>
              </a:rPr>
              <a:t>One-click readiness check against a fixed, auditable rule — no manual triage, no guesswork</a:t>
            </a:r>
            <a:endParaRPr lang="en-US" sz="1100" dirty="0"/>
          </a:p>
        </p:txBody>
      </p:sp>
      <p:sp>
        <p:nvSpPr>
          <p:cNvPr id="25" name="Shape 23"/>
          <p:cNvSpPr/>
          <p:nvPr/>
        </p:nvSpPr>
        <p:spPr>
          <a:xfrm>
            <a:off x="6400800" y="4343400"/>
            <a:ext cx="5257800" cy="868680"/>
          </a:xfrm>
          <a:prstGeom prst="roundRect">
            <a:avLst>
              <a:gd name="adj" fmla="val 8421"/>
            </a:avLst>
          </a:prstGeom>
          <a:solidFill>
            <a:srgbClr val="F4F5F7"/>
          </a:solidFill>
          <a:ln/>
        </p:spPr>
      </p:sp>
      <p:sp>
        <p:nvSpPr>
          <p:cNvPr id="26" name="Text 24"/>
          <p:cNvSpPr txBox="1"/>
          <p:nvPr/>
        </p:nvSpPr>
        <p:spPr>
          <a:xfrm>
            <a:off x="6583680" y="4416552"/>
            <a:ext cx="4846320" cy="274320"/>
          </a:xfrm>
          <a:prstGeom prst="rect">
            <a:avLst/>
          </a:prstGeom>
          <a:noFill/>
          <a:ln/>
        </p:spPr>
        <p:txBody>
          <a:bodyPr wrap="square" lIns="0" tIns="0" rIns="0" bIns="0" rtlCol="0" anchor="ctr"/>
          <a:lstStyle/>
          <a:p>
            <a:pPr indent="0" marL="0">
              <a:buNone/>
            </a:pPr>
            <a:r>
              <a:rPr lang="en-US" sz="1400" b="1" dirty="0">
                <a:solidFill>
                  <a:srgbClr val="1A1D23"/>
                </a:solidFill>
                <a:latin typeface="Calibri" pitchFamily="34" charset="0"/>
                <a:ea typeface="Calibri" pitchFamily="34" charset="-122"/>
                <a:cs typeface="Calibri" pitchFamily="34" charset="-120"/>
              </a:rPr>
              <a:t>Dev Teams</a:t>
            </a:r>
            <a:endParaRPr lang="en-US" sz="1400" dirty="0"/>
          </a:p>
        </p:txBody>
      </p:sp>
      <p:sp>
        <p:nvSpPr>
          <p:cNvPr id="27" name="Text 25"/>
          <p:cNvSpPr txBox="1"/>
          <p:nvPr/>
        </p:nvSpPr>
        <p:spPr>
          <a:xfrm>
            <a:off x="6583680" y="4709160"/>
            <a:ext cx="4846320" cy="457200"/>
          </a:xfrm>
          <a:prstGeom prst="rect">
            <a:avLst/>
          </a:prstGeom>
          <a:noFill/>
          <a:ln/>
        </p:spPr>
        <p:txBody>
          <a:bodyPr wrap="square" lIns="0" tIns="0" rIns="0" bIns="0" rtlCol="0" anchor="ctr"/>
          <a:lstStyle/>
          <a:p>
            <a:pPr indent="0" marL="0">
              <a:lnSpc>
                <a:spcPct val="115000"/>
              </a:lnSpc>
              <a:buNone/>
            </a:pPr>
            <a:r>
              <a:rPr lang="en-US" sz="1100" dirty="0">
                <a:solidFill>
                  <a:srgbClr val="5B6270"/>
                </a:solidFill>
                <a:latin typeface="Calibri" pitchFamily="34" charset="0"/>
                <a:ea typeface="Calibri" pitchFamily="34" charset="-122"/>
                <a:cs typeface="Calibri" pitchFamily="34" charset="-120"/>
              </a:rPr>
              <a:t>Pattern detection across releases — same root cause surfacing again? BugLens shows you, with the ticket that proved it</a:t>
            </a:r>
            <a:endParaRPr lang="en-US" sz="1100" dirty="0"/>
          </a:p>
        </p:txBody>
      </p:sp>
      <p:sp>
        <p:nvSpPr>
          <p:cNvPr id="28" name="Shape 26"/>
          <p:cNvSpPr/>
          <p:nvPr/>
        </p:nvSpPr>
        <p:spPr>
          <a:xfrm>
            <a:off x="6400800" y="5303520"/>
            <a:ext cx="5257800" cy="868680"/>
          </a:xfrm>
          <a:prstGeom prst="roundRect">
            <a:avLst>
              <a:gd name="adj" fmla="val 8421"/>
            </a:avLst>
          </a:prstGeom>
          <a:solidFill>
            <a:srgbClr val="F4F5F7"/>
          </a:solidFill>
          <a:ln/>
        </p:spPr>
      </p:sp>
      <p:sp>
        <p:nvSpPr>
          <p:cNvPr id="29" name="Text 27"/>
          <p:cNvSpPr txBox="1"/>
          <p:nvPr/>
        </p:nvSpPr>
        <p:spPr>
          <a:xfrm>
            <a:off x="6583680" y="5376672"/>
            <a:ext cx="4846320" cy="274320"/>
          </a:xfrm>
          <a:prstGeom prst="rect">
            <a:avLst/>
          </a:prstGeom>
          <a:noFill/>
          <a:ln/>
        </p:spPr>
        <p:txBody>
          <a:bodyPr wrap="square" lIns="0" tIns="0" rIns="0" bIns="0" rtlCol="0" anchor="ctr"/>
          <a:lstStyle/>
          <a:p>
            <a:pPr indent="0" marL="0">
              <a:buNone/>
            </a:pPr>
            <a:r>
              <a:rPr lang="en-US" sz="1400" b="1" dirty="0">
                <a:solidFill>
                  <a:srgbClr val="1A1D23"/>
                </a:solidFill>
                <a:latin typeface="Calibri" pitchFamily="34" charset="0"/>
                <a:ea typeface="Calibri" pitchFamily="34" charset="-122"/>
                <a:cs typeface="Calibri" pitchFamily="34" charset="-120"/>
              </a:rPr>
              <a:t>Leadership</a:t>
            </a:r>
            <a:endParaRPr lang="en-US" sz="1400" dirty="0"/>
          </a:p>
        </p:txBody>
      </p:sp>
      <p:sp>
        <p:nvSpPr>
          <p:cNvPr id="30" name="Text 28"/>
          <p:cNvSpPr txBox="1"/>
          <p:nvPr/>
        </p:nvSpPr>
        <p:spPr>
          <a:xfrm>
            <a:off x="6583680" y="5669280"/>
            <a:ext cx="4846320" cy="457200"/>
          </a:xfrm>
          <a:prstGeom prst="rect">
            <a:avLst/>
          </a:prstGeom>
          <a:noFill/>
          <a:ln/>
        </p:spPr>
        <p:txBody>
          <a:bodyPr wrap="square" lIns="0" tIns="0" rIns="0" bIns="0" rtlCol="0" anchor="ctr"/>
          <a:lstStyle/>
          <a:p>
            <a:pPr indent="0" marL="0">
              <a:lnSpc>
                <a:spcPct val="115000"/>
              </a:lnSpc>
              <a:buNone/>
            </a:pPr>
            <a:r>
              <a:rPr lang="en-US" sz="1100" dirty="0">
                <a:solidFill>
                  <a:srgbClr val="5B6270"/>
                </a:solidFill>
                <a:latin typeface="Calibri" pitchFamily="34" charset="0"/>
                <a:ea typeface="Calibri" pitchFamily="34" charset="-122"/>
                <a:cs typeface="Calibri" pitchFamily="34" charset="-120"/>
              </a:rPr>
              <a:t>Measurable reduction in duplicate investigation effort; fully local data handling for compliance-sensitive accounts</a:t>
            </a:r>
            <a:endParaRPr lang="en-US" sz="1100" dirty="0"/>
          </a:p>
        </p:txBody>
      </p:sp>
      <p:sp>
        <p:nvSpPr>
          <p:cNvPr id="31" name="Text 29"/>
          <p:cNvSpPr txBox="1"/>
          <p:nvPr/>
        </p:nvSpPr>
        <p:spPr>
          <a:xfrm>
            <a:off x="11365992" y="6400800"/>
            <a:ext cx="548640" cy="274320"/>
          </a:xfrm>
          <a:prstGeom prst="rect">
            <a:avLst/>
          </a:prstGeom>
          <a:noFill/>
          <a:ln/>
        </p:spPr>
        <p:txBody>
          <a:bodyPr wrap="square" lIns="0" tIns="0" rIns="0" bIns="0" rtlCol="0" anchor="ctr"/>
          <a:lstStyle/>
          <a:p>
            <a:pPr algn="r" indent="0" marL="0">
              <a:buNone/>
            </a:pPr>
            <a:r>
              <a:rPr lang="en-US" sz="1000" dirty="0">
                <a:solidFill>
                  <a:srgbClr val="5B6270"/>
                </a:solidFill>
                <a:latin typeface="Calibri" pitchFamily="34" charset="0"/>
                <a:ea typeface="Calibri" pitchFamily="34" charset="-122"/>
                <a:cs typeface="Calibri" pitchFamily="34" charset="-120"/>
              </a:rPr>
              <a:t>05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3044952" cy="347472"/>
          </a:xfrm>
          <a:prstGeom prst="roundRect">
            <a:avLst>
              <a:gd name="adj" fmla="val 10526"/>
            </a:avLst>
          </a:prstGeom>
          <a:solidFill>
            <a:srgbClr val="F4F5F7"/>
          </a:solidFill>
          <a:ln/>
        </p:spPr>
      </p:sp>
      <p:sp>
        <p:nvSpPr>
          <p:cNvPr id="3" name="Text 1"/>
          <p:cNvSpPr txBox="1"/>
          <p:nvPr/>
        </p:nvSpPr>
        <p:spPr>
          <a:xfrm>
            <a:off x="685800" y="384048"/>
            <a:ext cx="2862072" cy="292608"/>
          </a:xfrm>
          <a:prstGeom prst="rect">
            <a:avLst/>
          </a:prstGeom>
          <a:noFill/>
          <a:ln/>
        </p:spPr>
        <p:txBody>
          <a:bodyPr wrap="square" lIns="0" tIns="0" rIns="0" bIns="0" rtlCol="0" anchor="ctr"/>
          <a:lstStyle/>
          <a:p>
            <a:pPr indent="0" marL="0">
              <a:buNone/>
            </a:pPr>
            <a:r>
              <a:rPr lang="en-US" sz="1000" b="1" spc="200" kern="0" dirty="0">
                <a:solidFill>
                  <a:srgbClr val="C63F27"/>
                </a:solidFill>
                <a:latin typeface="Calibri" pitchFamily="34" charset="0"/>
                <a:ea typeface="Calibri" pitchFamily="34" charset="-122"/>
                <a:cs typeface="Calibri" pitchFamily="34" charset="-120"/>
              </a:rPr>
              <a:t>SOLUTION ARCHITECTURE</a:t>
            </a:r>
            <a:endParaRPr lang="en-US" sz="1000" dirty="0"/>
          </a:p>
        </p:txBody>
      </p:sp>
      <p:sp>
        <p:nvSpPr>
          <p:cNvPr id="4" name="Text 2"/>
          <p:cNvSpPr txBox="1"/>
          <p:nvPr/>
        </p:nvSpPr>
        <p:spPr>
          <a:xfrm>
            <a:off x="548640" y="868680"/>
            <a:ext cx="11091672" cy="777240"/>
          </a:xfrm>
          <a:prstGeom prst="rect">
            <a:avLst/>
          </a:prstGeom>
          <a:noFill/>
          <a:ln/>
        </p:spPr>
        <p:txBody>
          <a:bodyPr wrap="square" lIns="0" tIns="0" rIns="0" bIns="0" rtlCol="0" anchor="ctr"/>
          <a:lstStyle/>
          <a:p>
            <a:pPr indent="0" marL="0">
              <a:buNone/>
            </a:pPr>
            <a:r>
              <a:rPr lang="en-US" sz="3000" b="1" dirty="0">
                <a:solidFill>
                  <a:srgbClr val="1A1D23"/>
                </a:solidFill>
                <a:latin typeface="Cambria" pitchFamily="34" charset="0"/>
                <a:ea typeface="Cambria" pitchFamily="34" charset="-122"/>
                <a:cs typeface="Cambria" pitchFamily="34" charset="-120"/>
              </a:rPr>
              <a:t>Six files, two front doors, one engine.</a:t>
            </a:r>
            <a:endParaRPr lang="en-US" sz="3000" dirty="0"/>
          </a:p>
        </p:txBody>
      </p:sp>
      <p:sp>
        <p:nvSpPr>
          <p:cNvPr id="5" name="Text 3"/>
          <p:cNvSpPr txBox="1"/>
          <p:nvPr/>
        </p:nvSpPr>
        <p:spPr>
          <a:xfrm>
            <a:off x="548640" y="1737360"/>
            <a:ext cx="11091672" cy="365760"/>
          </a:xfrm>
          <a:prstGeom prst="rect">
            <a:avLst/>
          </a:prstGeom>
          <a:noFill/>
          <a:ln/>
        </p:spPr>
        <p:txBody>
          <a:bodyPr wrap="square" lIns="0" tIns="0" rIns="0" bIns="0" rtlCol="0" anchor="ctr"/>
          <a:lstStyle/>
          <a:p>
            <a:pPr indent="0" marL="0">
              <a:buNone/>
            </a:pPr>
            <a:r>
              <a:rPr lang="en-US" sz="1350" dirty="0">
                <a:solidFill>
                  <a:srgbClr val="5B6270"/>
                </a:solidFill>
                <a:latin typeface="Calibri" pitchFamily="34" charset="0"/>
                <a:ea typeface="Calibri" pitchFamily="34" charset="-122"/>
                <a:cs typeface="Calibri" pitchFamily="34" charset="-120"/>
              </a:rPr>
              <a:t>The core engine lives in search.py. Everything else either feeds it data, presents its output, or tests it.</a:t>
            </a:r>
            <a:endParaRPr lang="en-US" sz="1350" dirty="0"/>
          </a:p>
        </p:txBody>
      </p:sp>
      <p:sp>
        <p:nvSpPr>
          <p:cNvPr id="6" name="Shape 4"/>
          <p:cNvSpPr/>
          <p:nvPr/>
        </p:nvSpPr>
        <p:spPr>
          <a:xfrm>
            <a:off x="548640" y="2377440"/>
            <a:ext cx="4937760" cy="3931920"/>
          </a:xfrm>
          <a:prstGeom prst="roundRect">
            <a:avLst>
              <a:gd name="adj" fmla="val 1860"/>
            </a:avLst>
          </a:prstGeom>
          <a:solidFill>
            <a:srgbClr val="1A1D23"/>
          </a:solidFill>
          <a:ln/>
        </p:spPr>
      </p:sp>
      <p:sp>
        <p:nvSpPr>
          <p:cNvPr id="7" name="Text 5"/>
          <p:cNvSpPr txBox="1"/>
          <p:nvPr/>
        </p:nvSpPr>
        <p:spPr>
          <a:xfrm>
            <a:off x="868680" y="2560320"/>
            <a:ext cx="4297680" cy="274320"/>
          </a:xfrm>
          <a:prstGeom prst="rect">
            <a:avLst/>
          </a:prstGeom>
          <a:noFill/>
          <a:ln/>
        </p:spPr>
        <p:txBody>
          <a:bodyPr wrap="square" lIns="0" tIns="0" rIns="0" bIns="0" rtlCol="0" anchor="ctr"/>
          <a:lstStyle/>
          <a:p>
            <a:pPr indent="0" marL="0">
              <a:buNone/>
            </a:pPr>
            <a:r>
              <a:rPr lang="en-US" sz="1100" dirty="0">
                <a:solidFill>
                  <a:srgbClr val="FF6B4A"/>
                </a:solidFill>
                <a:latin typeface="Courier New" pitchFamily="34" charset="0"/>
                <a:ea typeface="Courier New" pitchFamily="34" charset="-122"/>
                <a:cs typeface="Courier New" pitchFamily="34" charset="-120"/>
              </a:rPr>
              <a:t>BugWhisperer_hackathon_JIRA/</a:t>
            </a:r>
            <a:endParaRPr lang="en-US" sz="1100" dirty="0"/>
          </a:p>
        </p:txBody>
      </p:sp>
      <p:sp>
        <p:nvSpPr>
          <p:cNvPr id="8" name="Text 6"/>
          <p:cNvSpPr txBox="1"/>
          <p:nvPr/>
        </p:nvSpPr>
        <p:spPr>
          <a:xfrm>
            <a:off x="868680" y="2862072"/>
            <a:ext cx="4297680" cy="274320"/>
          </a:xfrm>
          <a:prstGeom prst="rect">
            <a:avLst/>
          </a:prstGeom>
          <a:noFill/>
          <a:ln/>
        </p:spPr>
        <p:txBody>
          <a:bodyPr wrap="square" lIns="0" tIns="0" rIns="0" bIns="0" rtlCol="0" anchor="ctr"/>
          <a:lstStyle/>
          <a:p>
            <a:pPr indent="0" marL="0">
              <a:buNone/>
            </a:pPr>
            <a:r>
              <a:rPr lang="en-US" sz="1100" dirty="0">
                <a:solidFill>
                  <a:srgbClr val="8A90A0"/>
                </a:solidFill>
                <a:latin typeface="Courier New" pitchFamily="34" charset="0"/>
                <a:ea typeface="Courier New" pitchFamily="34" charset="-122"/>
                <a:cs typeface="Courier New" pitchFamily="34" charset="-120"/>
              </a:rPr>
              <a:t>├── jira_fetch.py</a:t>
            </a:r>
            <a:endParaRPr lang="en-US" sz="1100" dirty="0"/>
          </a:p>
        </p:txBody>
      </p:sp>
      <p:sp>
        <p:nvSpPr>
          <p:cNvPr id="9" name="Text 7"/>
          <p:cNvSpPr txBox="1"/>
          <p:nvPr/>
        </p:nvSpPr>
        <p:spPr>
          <a:xfrm>
            <a:off x="868680" y="3163824"/>
            <a:ext cx="4297680" cy="274320"/>
          </a:xfrm>
          <a:prstGeom prst="rect">
            <a:avLst/>
          </a:prstGeom>
          <a:noFill/>
          <a:ln/>
        </p:spPr>
        <p:txBody>
          <a:bodyPr wrap="square" lIns="0" tIns="0" rIns="0" bIns="0" rtlCol="0" anchor="ctr"/>
          <a:lstStyle/>
          <a:p>
            <a:pPr indent="0" marL="0">
              <a:buNone/>
            </a:pPr>
            <a:r>
              <a:rPr lang="en-US" sz="1100" dirty="0">
                <a:solidFill>
                  <a:srgbClr val="8A90A0"/>
                </a:solidFill>
                <a:latin typeface="Courier New" pitchFamily="34" charset="0"/>
                <a:ea typeface="Courier New" pitchFamily="34" charset="-122"/>
                <a:cs typeface="Courier New" pitchFamily="34" charset="-120"/>
              </a:rPr>
              <a:t>├── ingest.py</a:t>
            </a:r>
            <a:endParaRPr lang="en-US" sz="1100" dirty="0"/>
          </a:p>
        </p:txBody>
      </p:sp>
      <p:sp>
        <p:nvSpPr>
          <p:cNvPr id="10" name="Text 8"/>
          <p:cNvSpPr txBox="1"/>
          <p:nvPr/>
        </p:nvSpPr>
        <p:spPr>
          <a:xfrm>
            <a:off x="868680" y="3465576"/>
            <a:ext cx="4297680" cy="274320"/>
          </a:xfrm>
          <a:prstGeom prst="rect">
            <a:avLst/>
          </a:prstGeom>
          <a:noFill/>
          <a:ln/>
        </p:spPr>
        <p:txBody>
          <a:bodyPr wrap="square" lIns="0" tIns="0" rIns="0" bIns="0" rtlCol="0" anchor="ctr"/>
          <a:lstStyle/>
          <a:p>
            <a:pPr indent="0" marL="0">
              <a:buNone/>
            </a:pPr>
            <a:r>
              <a:rPr lang="en-US" sz="1100" dirty="0">
                <a:solidFill>
                  <a:srgbClr val="FF6B4A"/>
                </a:solidFill>
                <a:latin typeface="Courier New" pitchFamily="34" charset="0"/>
                <a:ea typeface="Courier New" pitchFamily="34" charset="-122"/>
                <a:cs typeface="Courier New" pitchFamily="34" charset="-120"/>
              </a:rPr>
              <a:t>├── search.py</a:t>
            </a:r>
            <a:endParaRPr lang="en-US" sz="1100" dirty="0"/>
          </a:p>
        </p:txBody>
      </p:sp>
      <p:sp>
        <p:nvSpPr>
          <p:cNvPr id="11" name="Text 9"/>
          <p:cNvSpPr txBox="1"/>
          <p:nvPr/>
        </p:nvSpPr>
        <p:spPr>
          <a:xfrm>
            <a:off x="868680" y="3767328"/>
            <a:ext cx="4297680" cy="274320"/>
          </a:xfrm>
          <a:prstGeom prst="rect">
            <a:avLst/>
          </a:prstGeom>
          <a:noFill/>
          <a:ln/>
        </p:spPr>
        <p:txBody>
          <a:bodyPr wrap="square" lIns="0" tIns="0" rIns="0" bIns="0" rtlCol="0" anchor="ctr"/>
          <a:lstStyle/>
          <a:p>
            <a:pPr indent="0" marL="0">
              <a:buNone/>
            </a:pPr>
            <a:r>
              <a:rPr lang="en-US" sz="1100" dirty="0">
                <a:solidFill>
                  <a:srgbClr val="8A90A0"/>
                </a:solidFill>
                <a:latin typeface="Courier New" pitchFamily="34" charset="0"/>
                <a:ea typeface="Courier New" pitchFamily="34" charset="-122"/>
                <a:cs typeface="Courier New" pitchFamily="34" charset="-120"/>
              </a:rPr>
              <a:t>├── app.py</a:t>
            </a:r>
            <a:endParaRPr lang="en-US" sz="1100" dirty="0"/>
          </a:p>
        </p:txBody>
      </p:sp>
      <p:sp>
        <p:nvSpPr>
          <p:cNvPr id="12" name="Text 10"/>
          <p:cNvSpPr txBox="1"/>
          <p:nvPr/>
        </p:nvSpPr>
        <p:spPr>
          <a:xfrm>
            <a:off x="868680" y="4069080"/>
            <a:ext cx="4297680" cy="274320"/>
          </a:xfrm>
          <a:prstGeom prst="rect">
            <a:avLst/>
          </a:prstGeom>
          <a:noFill/>
          <a:ln/>
        </p:spPr>
        <p:txBody>
          <a:bodyPr wrap="square" lIns="0" tIns="0" rIns="0" bIns="0" rtlCol="0" anchor="ctr"/>
          <a:lstStyle/>
          <a:p>
            <a:pPr indent="0" marL="0">
              <a:buNone/>
            </a:pPr>
            <a:r>
              <a:rPr lang="en-US" sz="1100" dirty="0">
                <a:solidFill>
                  <a:srgbClr val="8A90A0"/>
                </a:solidFill>
                <a:latin typeface="Courier New" pitchFamily="34" charset="0"/>
                <a:ea typeface="Courier New" pitchFamily="34" charset="-122"/>
                <a:cs typeface="Courier New" pitchFamily="34" charset="-120"/>
              </a:rPr>
              <a:t>├── bugLens_mcp.py</a:t>
            </a:r>
            <a:endParaRPr lang="en-US" sz="1100" dirty="0"/>
          </a:p>
        </p:txBody>
      </p:sp>
      <p:sp>
        <p:nvSpPr>
          <p:cNvPr id="13" name="Text 11"/>
          <p:cNvSpPr txBox="1"/>
          <p:nvPr/>
        </p:nvSpPr>
        <p:spPr>
          <a:xfrm>
            <a:off x="868680" y="4370832"/>
            <a:ext cx="4297680" cy="274320"/>
          </a:xfrm>
          <a:prstGeom prst="rect">
            <a:avLst/>
          </a:prstGeom>
          <a:noFill/>
          <a:ln/>
        </p:spPr>
        <p:txBody>
          <a:bodyPr wrap="square" lIns="0" tIns="0" rIns="0" bIns="0" rtlCol="0" anchor="ctr"/>
          <a:lstStyle/>
          <a:p>
            <a:pPr indent="0" marL="0">
              <a:buNone/>
            </a:pPr>
            <a:r>
              <a:rPr lang="en-US" sz="1100" dirty="0">
                <a:solidFill>
                  <a:srgbClr val="8A90A0"/>
                </a:solidFill>
                <a:latin typeface="Courier New" pitchFamily="34" charset="0"/>
                <a:ea typeface="Courier New" pitchFamily="34" charset="-122"/>
                <a:cs typeface="Courier New" pitchFamily="34" charset="-120"/>
              </a:rPr>
              <a:t>├── quality_checks.py</a:t>
            </a:r>
            <a:endParaRPr lang="en-US" sz="1100" dirty="0"/>
          </a:p>
        </p:txBody>
      </p:sp>
      <p:sp>
        <p:nvSpPr>
          <p:cNvPr id="14" name="Text 12"/>
          <p:cNvSpPr txBox="1"/>
          <p:nvPr/>
        </p:nvSpPr>
        <p:spPr>
          <a:xfrm>
            <a:off x="868680" y="4672584"/>
            <a:ext cx="4297680" cy="274320"/>
          </a:xfrm>
          <a:prstGeom prst="rect">
            <a:avLst/>
          </a:prstGeom>
          <a:noFill/>
          <a:ln/>
        </p:spPr>
        <p:txBody>
          <a:bodyPr wrap="square" lIns="0" tIns="0" rIns="0" bIns="0" rtlCol="0" anchor="ctr"/>
          <a:lstStyle/>
          <a:p>
            <a:pPr indent="0" marL="0">
              <a:buNone/>
            </a:pPr>
            <a:r>
              <a:rPr lang="en-US" sz="1100" dirty="0">
                <a:solidFill>
                  <a:srgbClr val="8A90A0"/>
                </a:solidFill>
                <a:latin typeface="Courier New" pitchFamily="34" charset="0"/>
                <a:ea typeface="Courier New" pitchFamily="34" charset="-122"/>
                <a:cs typeface="Courier New" pitchFamily="34" charset="-120"/>
              </a:rPr>
              <a:t>├── tests/</a:t>
            </a:r>
            <a:endParaRPr lang="en-US" sz="1100" dirty="0"/>
          </a:p>
        </p:txBody>
      </p:sp>
      <p:sp>
        <p:nvSpPr>
          <p:cNvPr id="15" name="Text 13"/>
          <p:cNvSpPr txBox="1"/>
          <p:nvPr/>
        </p:nvSpPr>
        <p:spPr>
          <a:xfrm>
            <a:off x="868680" y="4974336"/>
            <a:ext cx="4297680" cy="274320"/>
          </a:xfrm>
          <a:prstGeom prst="rect">
            <a:avLst/>
          </a:prstGeom>
          <a:noFill/>
          <a:ln/>
        </p:spPr>
        <p:txBody>
          <a:bodyPr wrap="square" lIns="0" tIns="0" rIns="0" bIns="0" rtlCol="0" anchor="ctr"/>
          <a:lstStyle/>
          <a:p>
            <a:pPr indent="0" marL="0">
              <a:buNone/>
            </a:pPr>
            <a:r>
              <a:rPr lang="en-US" sz="1100" dirty="0">
                <a:solidFill>
                  <a:srgbClr val="6B7280"/>
                </a:solidFill>
                <a:latin typeface="Courier New" pitchFamily="34" charset="0"/>
                <a:ea typeface="Courier New" pitchFamily="34" charset="-122"/>
                <a:cs typeface="Courier New" pitchFamily="34" charset="-120"/>
              </a:rPr>
              <a:t>│   ├── run_regression_suite.py</a:t>
            </a:r>
            <a:endParaRPr lang="en-US" sz="1100" dirty="0"/>
          </a:p>
        </p:txBody>
      </p:sp>
      <p:sp>
        <p:nvSpPr>
          <p:cNvPr id="16" name="Text 14"/>
          <p:cNvSpPr txBox="1"/>
          <p:nvPr/>
        </p:nvSpPr>
        <p:spPr>
          <a:xfrm>
            <a:off x="868680" y="5276088"/>
            <a:ext cx="4297680" cy="274320"/>
          </a:xfrm>
          <a:prstGeom prst="rect">
            <a:avLst/>
          </a:prstGeom>
          <a:noFill/>
          <a:ln/>
        </p:spPr>
        <p:txBody>
          <a:bodyPr wrap="square" lIns="0" tIns="0" rIns="0" bIns="0" rtlCol="0" anchor="ctr"/>
          <a:lstStyle/>
          <a:p>
            <a:pPr indent="0" marL="0">
              <a:buNone/>
            </a:pPr>
            <a:r>
              <a:rPr lang="en-US" sz="1100" dirty="0">
                <a:solidFill>
                  <a:srgbClr val="6B7280"/>
                </a:solidFill>
                <a:latin typeface="Courier New" pitchFamily="34" charset="0"/>
                <a:ea typeface="Courier New" pitchFamily="34" charset="-122"/>
                <a:cs typeface="Courier New" pitchFamily="34" charset="-120"/>
              </a:rPr>
              <a:t>│   ├── test_guardrails.py</a:t>
            </a:r>
            <a:endParaRPr lang="en-US" sz="1100" dirty="0"/>
          </a:p>
        </p:txBody>
      </p:sp>
      <p:sp>
        <p:nvSpPr>
          <p:cNvPr id="17" name="Text 15"/>
          <p:cNvSpPr txBox="1"/>
          <p:nvPr/>
        </p:nvSpPr>
        <p:spPr>
          <a:xfrm>
            <a:off x="868680" y="5577840"/>
            <a:ext cx="4297680" cy="274320"/>
          </a:xfrm>
          <a:prstGeom prst="rect">
            <a:avLst/>
          </a:prstGeom>
          <a:noFill/>
          <a:ln/>
        </p:spPr>
        <p:txBody>
          <a:bodyPr wrap="square" lIns="0" tIns="0" rIns="0" bIns="0" rtlCol="0" anchor="ctr"/>
          <a:lstStyle/>
          <a:p>
            <a:pPr indent="0" marL="0">
              <a:buNone/>
            </a:pPr>
            <a:r>
              <a:rPr lang="en-US" sz="1100" dirty="0">
                <a:solidFill>
                  <a:srgbClr val="6B7280"/>
                </a:solidFill>
                <a:latin typeface="Courier New" pitchFamily="34" charset="0"/>
                <a:ea typeface="Courier New" pitchFamily="34" charset="-122"/>
                <a:cs typeface="Courier New" pitchFamily="34" charset="-120"/>
              </a:rPr>
              <a:t>│   └── test_quality_checks.py</a:t>
            </a:r>
            <a:endParaRPr lang="en-US" sz="1100" dirty="0"/>
          </a:p>
        </p:txBody>
      </p:sp>
      <p:sp>
        <p:nvSpPr>
          <p:cNvPr id="18" name="Text 16"/>
          <p:cNvSpPr txBox="1"/>
          <p:nvPr/>
        </p:nvSpPr>
        <p:spPr>
          <a:xfrm>
            <a:off x="868680" y="5879592"/>
            <a:ext cx="4297680" cy="274320"/>
          </a:xfrm>
          <a:prstGeom prst="rect">
            <a:avLst/>
          </a:prstGeom>
          <a:noFill/>
          <a:ln/>
        </p:spPr>
        <p:txBody>
          <a:bodyPr wrap="square" lIns="0" tIns="0" rIns="0" bIns="0" rtlCol="0" anchor="ctr"/>
          <a:lstStyle/>
          <a:p>
            <a:pPr indent="0" marL="0">
              <a:buNone/>
            </a:pPr>
            <a:r>
              <a:rPr lang="en-US" sz="1100" dirty="0">
                <a:solidFill>
                  <a:srgbClr val="6B7280"/>
                </a:solidFill>
                <a:latin typeface="Courier New" pitchFamily="34" charset="0"/>
                <a:ea typeface="Courier New" pitchFamily="34" charset="-122"/>
                <a:cs typeface="Courier New" pitchFamily="34" charset="-120"/>
              </a:rPr>
              <a:t>└── .vscode/mcp.json</a:t>
            </a:r>
            <a:endParaRPr lang="en-US" sz="1100" dirty="0"/>
          </a:p>
        </p:txBody>
      </p:sp>
      <p:sp>
        <p:nvSpPr>
          <p:cNvPr id="19" name="Shape 17"/>
          <p:cNvSpPr/>
          <p:nvPr/>
        </p:nvSpPr>
        <p:spPr>
          <a:xfrm>
            <a:off x="5852160" y="2331720"/>
            <a:ext cx="5760720" cy="914400"/>
          </a:xfrm>
          <a:prstGeom prst="roundRect">
            <a:avLst>
              <a:gd name="adj" fmla="val 8000"/>
            </a:avLst>
          </a:prstGeom>
          <a:solidFill>
            <a:srgbClr val="F4F5F7"/>
          </a:solidFill>
          <a:ln/>
        </p:spPr>
      </p:sp>
      <p:sp>
        <p:nvSpPr>
          <p:cNvPr id="20" name="Text 18"/>
          <p:cNvSpPr txBox="1"/>
          <p:nvPr/>
        </p:nvSpPr>
        <p:spPr>
          <a:xfrm>
            <a:off x="6080760" y="2423160"/>
            <a:ext cx="5303520" cy="274320"/>
          </a:xfrm>
          <a:prstGeom prst="rect">
            <a:avLst/>
          </a:prstGeom>
          <a:noFill/>
          <a:ln/>
        </p:spPr>
        <p:txBody>
          <a:bodyPr wrap="square" lIns="0" tIns="0" rIns="0" bIns="0" rtlCol="0" anchor="ctr"/>
          <a:lstStyle/>
          <a:p>
            <a:pPr indent="0" marL="0">
              <a:buNone/>
            </a:pPr>
            <a:r>
              <a:rPr lang="en-US" sz="1300" b="1" dirty="0">
                <a:solidFill>
                  <a:srgbClr val="1A1D23"/>
                </a:solidFill>
                <a:latin typeface="Calibri" pitchFamily="34" charset="0"/>
                <a:ea typeface="Calibri" pitchFamily="34" charset="-122"/>
                <a:cs typeface="Calibri" pitchFamily="34" charset="-120"/>
              </a:rPr>
              <a:t>📥  Data pipeline</a:t>
            </a:r>
            <a:endParaRPr lang="en-US" sz="1300" dirty="0"/>
          </a:p>
        </p:txBody>
      </p:sp>
      <p:sp>
        <p:nvSpPr>
          <p:cNvPr id="21" name="Text 19"/>
          <p:cNvSpPr txBox="1"/>
          <p:nvPr/>
        </p:nvSpPr>
        <p:spPr>
          <a:xfrm>
            <a:off x="6080760" y="2715768"/>
            <a:ext cx="5303520" cy="502920"/>
          </a:xfrm>
          <a:prstGeom prst="rect">
            <a:avLst/>
          </a:prstGeom>
          <a:noFill/>
          <a:ln/>
        </p:spPr>
        <p:txBody>
          <a:bodyPr wrap="square" lIns="0" tIns="0" rIns="0" bIns="0" rtlCol="0" anchor="ctr"/>
          <a:lstStyle/>
          <a:p>
            <a:pPr indent="0" marL="0">
              <a:lnSpc>
                <a:spcPct val="115000"/>
              </a:lnSpc>
              <a:buNone/>
            </a:pPr>
            <a:r>
              <a:rPr lang="en-US" sz="1100" dirty="0">
                <a:solidFill>
                  <a:srgbClr val="5B6270"/>
                </a:solidFill>
                <a:latin typeface="Calibri" pitchFamily="34" charset="0"/>
                <a:ea typeface="Calibri" pitchFamily="34" charset="-122"/>
                <a:cs typeface="Calibri" pitchFamily="34" charset="-120"/>
              </a:rPr>
              <a:t>jira_fetch.py pulls real bugs from Jira (incl. custom fields). ingest.py embeds them into a local ChromaDB store via Ollama.</a:t>
            </a:r>
            <a:endParaRPr lang="en-US" sz="1100" dirty="0"/>
          </a:p>
        </p:txBody>
      </p:sp>
      <p:sp>
        <p:nvSpPr>
          <p:cNvPr id="22" name="Shape 20"/>
          <p:cNvSpPr/>
          <p:nvPr/>
        </p:nvSpPr>
        <p:spPr>
          <a:xfrm>
            <a:off x="5852160" y="3337560"/>
            <a:ext cx="5760720" cy="914400"/>
          </a:xfrm>
          <a:prstGeom prst="roundRect">
            <a:avLst>
              <a:gd name="adj" fmla="val 8000"/>
            </a:avLst>
          </a:prstGeom>
          <a:solidFill>
            <a:srgbClr val="F4F5F7"/>
          </a:solidFill>
          <a:ln/>
        </p:spPr>
      </p:sp>
      <p:sp>
        <p:nvSpPr>
          <p:cNvPr id="23" name="Text 21"/>
          <p:cNvSpPr txBox="1"/>
          <p:nvPr/>
        </p:nvSpPr>
        <p:spPr>
          <a:xfrm>
            <a:off x="6080760" y="3429000"/>
            <a:ext cx="5303520" cy="274320"/>
          </a:xfrm>
          <a:prstGeom prst="rect">
            <a:avLst/>
          </a:prstGeom>
          <a:noFill/>
          <a:ln/>
        </p:spPr>
        <p:txBody>
          <a:bodyPr wrap="square" lIns="0" tIns="0" rIns="0" bIns="0" rtlCol="0" anchor="ctr"/>
          <a:lstStyle/>
          <a:p>
            <a:pPr indent="0" marL="0">
              <a:buNone/>
            </a:pPr>
            <a:r>
              <a:rPr lang="en-US" sz="1300" b="1" dirty="0">
                <a:solidFill>
                  <a:srgbClr val="1A1D23"/>
                </a:solidFill>
                <a:latin typeface="Calibri" pitchFamily="34" charset="0"/>
                <a:ea typeface="Calibri" pitchFamily="34" charset="-122"/>
                <a:cs typeface="Calibri" pitchFamily="34" charset="-120"/>
              </a:rPr>
              <a:t>🧠  Core engine</a:t>
            </a:r>
            <a:endParaRPr lang="en-US" sz="1300" dirty="0"/>
          </a:p>
        </p:txBody>
      </p:sp>
      <p:sp>
        <p:nvSpPr>
          <p:cNvPr id="24" name="Text 22"/>
          <p:cNvSpPr txBox="1"/>
          <p:nvPr/>
        </p:nvSpPr>
        <p:spPr>
          <a:xfrm>
            <a:off x="6080760" y="3721608"/>
            <a:ext cx="5303520" cy="502920"/>
          </a:xfrm>
          <a:prstGeom prst="rect">
            <a:avLst/>
          </a:prstGeom>
          <a:noFill/>
          <a:ln/>
        </p:spPr>
        <p:txBody>
          <a:bodyPr wrap="square" lIns="0" tIns="0" rIns="0" bIns="0" rtlCol="0" anchor="ctr"/>
          <a:lstStyle/>
          <a:p>
            <a:pPr indent="0" marL="0">
              <a:lnSpc>
                <a:spcPct val="115000"/>
              </a:lnSpc>
              <a:buNone/>
            </a:pPr>
            <a:r>
              <a:rPr lang="en-US" sz="1100" dirty="0">
                <a:solidFill>
                  <a:srgbClr val="5B6270"/>
                </a:solidFill>
                <a:latin typeface="Calibri" pitchFamily="34" charset="0"/>
                <a:ea typeface="Calibri" pitchFamily="34" charset="-122"/>
                <a:cs typeface="Calibri" pitchFamily="34" charset="-120"/>
              </a:rPr>
              <a:t>search.py — hybrid retrieval, per-bug verification, synthesis, citation guardrails, and the deterministic release gate.</a:t>
            </a:r>
            <a:endParaRPr lang="en-US" sz="1100" dirty="0"/>
          </a:p>
        </p:txBody>
      </p:sp>
      <p:sp>
        <p:nvSpPr>
          <p:cNvPr id="25" name="Shape 23"/>
          <p:cNvSpPr/>
          <p:nvPr/>
        </p:nvSpPr>
        <p:spPr>
          <a:xfrm>
            <a:off x="5852160" y="4343400"/>
            <a:ext cx="5760720" cy="914400"/>
          </a:xfrm>
          <a:prstGeom prst="roundRect">
            <a:avLst>
              <a:gd name="adj" fmla="val 8000"/>
            </a:avLst>
          </a:prstGeom>
          <a:solidFill>
            <a:srgbClr val="F4F5F7"/>
          </a:solidFill>
          <a:ln/>
        </p:spPr>
      </p:sp>
      <p:sp>
        <p:nvSpPr>
          <p:cNvPr id="26" name="Text 24"/>
          <p:cNvSpPr txBox="1"/>
          <p:nvPr/>
        </p:nvSpPr>
        <p:spPr>
          <a:xfrm>
            <a:off x="6080760" y="4434840"/>
            <a:ext cx="5303520" cy="274320"/>
          </a:xfrm>
          <a:prstGeom prst="rect">
            <a:avLst/>
          </a:prstGeom>
          <a:noFill/>
          <a:ln/>
        </p:spPr>
        <p:txBody>
          <a:bodyPr wrap="square" lIns="0" tIns="0" rIns="0" bIns="0" rtlCol="0" anchor="ctr"/>
          <a:lstStyle/>
          <a:p>
            <a:pPr indent="0" marL="0">
              <a:buNone/>
            </a:pPr>
            <a:r>
              <a:rPr lang="en-US" sz="1300" b="1" dirty="0">
                <a:solidFill>
                  <a:srgbClr val="1A1D23"/>
                </a:solidFill>
                <a:latin typeface="Calibri" pitchFamily="34" charset="0"/>
                <a:ea typeface="Calibri" pitchFamily="34" charset="-122"/>
                <a:cs typeface="Calibri" pitchFamily="34" charset="-120"/>
              </a:rPr>
              <a:t>🖥  Two front doors</a:t>
            </a:r>
            <a:endParaRPr lang="en-US" sz="1300" dirty="0"/>
          </a:p>
        </p:txBody>
      </p:sp>
      <p:sp>
        <p:nvSpPr>
          <p:cNvPr id="27" name="Text 25"/>
          <p:cNvSpPr txBox="1"/>
          <p:nvPr/>
        </p:nvSpPr>
        <p:spPr>
          <a:xfrm>
            <a:off x="6080760" y="4727448"/>
            <a:ext cx="5303520" cy="502920"/>
          </a:xfrm>
          <a:prstGeom prst="rect">
            <a:avLst/>
          </a:prstGeom>
          <a:noFill/>
          <a:ln/>
        </p:spPr>
        <p:txBody>
          <a:bodyPr wrap="square" lIns="0" tIns="0" rIns="0" bIns="0" rtlCol="0" anchor="ctr"/>
          <a:lstStyle/>
          <a:p>
            <a:pPr indent="0" marL="0">
              <a:lnSpc>
                <a:spcPct val="115000"/>
              </a:lnSpc>
              <a:buNone/>
            </a:pPr>
            <a:r>
              <a:rPr lang="en-US" sz="1100" dirty="0">
                <a:solidFill>
                  <a:srgbClr val="5B6270"/>
                </a:solidFill>
                <a:latin typeface="Calibri" pitchFamily="34" charset="0"/>
                <a:ea typeface="Calibri" pitchFamily="34" charset="-122"/>
                <a:cs typeface="Calibri" pitchFamily="34" charset="-120"/>
              </a:rPr>
              <a:t>app.py (Streamlit UI) and bugLens_mcp.py (MCP server for Copilot) — same engine, no duplicated logic.</a:t>
            </a:r>
            <a:endParaRPr lang="en-US" sz="1100" dirty="0"/>
          </a:p>
        </p:txBody>
      </p:sp>
      <p:sp>
        <p:nvSpPr>
          <p:cNvPr id="28" name="Shape 26"/>
          <p:cNvSpPr/>
          <p:nvPr/>
        </p:nvSpPr>
        <p:spPr>
          <a:xfrm>
            <a:off x="5852160" y="5349240"/>
            <a:ext cx="5760720" cy="914400"/>
          </a:xfrm>
          <a:prstGeom prst="roundRect">
            <a:avLst>
              <a:gd name="adj" fmla="val 8000"/>
            </a:avLst>
          </a:prstGeom>
          <a:solidFill>
            <a:srgbClr val="F4F5F7"/>
          </a:solidFill>
          <a:ln/>
        </p:spPr>
      </p:sp>
      <p:sp>
        <p:nvSpPr>
          <p:cNvPr id="29" name="Text 27"/>
          <p:cNvSpPr txBox="1"/>
          <p:nvPr/>
        </p:nvSpPr>
        <p:spPr>
          <a:xfrm>
            <a:off x="6080760" y="5440680"/>
            <a:ext cx="5303520" cy="274320"/>
          </a:xfrm>
          <a:prstGeom prst="rect">
            <a:avLst/>
          </a:prstGeom>
          <a:noFill/>
          <a:ln/>
        </p:spPr>
        <p:txBody>
          <a:bodyPr wrap="square" lIns="0" tIns="0" rIns="0" bIns="0" rtlCol="0" anchor="ctr"/>
          <a:lstStyle/>
          <a:p>
            <a:pPr indent="0" marL="0">
              <a:buNone/>
            </a:pPr>
            <a:r>
              <a:rPr lang="en-US" sz="1300" b="1" dirty="0">
                <a:solidFill>
                  <a:srgbClr val="1A1D23"/>
                </a:solidFill>
                <a:latin typeface="Calibri" pitchFamily="34" charset="0"/>
                <a:ea typeface="Calibri" pitchFamily="34" charset="-122"/>
                <a:cs typeface="Calibri" pitchFamily="34" charset="-120"/>
              </a:rPr>
              <a:t>🧪  Testing layer</a:t>
            </a:r>
            <a:endParaRPr lang="en-US" sz="1300" dirty="0"/>
          </a:p>
        </p:txBody>
      </p:sp>
      <p:sp>
        <p:nvSpPr>
          <p:cNvPr id="30" name="Text 28"/>
          <p:cNvSpPr txBox="1"/>
          <p:nvPr/>
        </p:nvSpPr>
        <p:spPr>
          <a:xfrm>
            <a:off x="6080760" y="5733288"/>
            <a:ext cx="5303520" cy="502920"/>
          </a:xfrm>
          <a:prstGeom prst="rect">
            <a:avLst/>
          </a:prstGeom>
          <a:noFill/>
          <a:ln/>
        </p:spPr>
        <p:txBody>
          <a:bodyPr wrap="square" lIns="0" tIns="0" rIns="0" bIns="0" rtlCol="0" anchor="ctr"/>
          <a:lstStyle/>
          <a:p>
            <a:pPr indent="0" marL="0">
              <a:lnSpc>
                <a:spcPct val="115000"/>
              </a:lnSpc>
              <a:buNone/>
            </a:pPr>
            <a:r>
              <a:rPr lang="en-US" sz="1100" dirty="0">
                <a:solidFill>
                  <a:srgbClr val="5B6270"/>
                </a:solidFill>
                <a:latin typeface="Calibri" pitchFamily="34" charset="0"/>
                <a:ea typeface="Calibri" pitchFamily="34" charset="-122"/>
                <a:cs typeface="Calibri" pitchFamily="34" charset="-120"/>
              </a:rPr>
              <a:t>Automated regression suite + unit tests that caught real AI mistakes (fabricated citations, swapped counts) before any demo.</a:t>
            </a:r>
            <a:endParaRPr lang="en-US" sz="1100" dirty="0"/>
          </a:p>
        </p:txBody>
      </p:sp>
      <p:sp>
        <p:nvSpPr>
          <p:cNvPr id="31" name="Text 29"/>
          <p:cNvSpPr txBox="1"/>
          <p:nvPr/>
        </p:nvSpPr>
        <p:spPr>
          <a:xfrm>
            <a:off x="11365992" y="6400800"/>
            <a:ext cx="548640" cy="274320"/>
          </a:xfrm>
          <a:prstGeom prst="rect">
            <a:avLst/>
          </a:prstGeom>
          <a:noFill/>
          <a:ln/>
        </p:spPr>
        <p:txBody>
          <a:bodyPr wrap="square" lIns="0" tIns="0" rIns="0" bIns="0" rtlCol="0" anchor="ctr"/>
          <a:lstStyle/>
          <a:p>
            <a:pPr algn="r" indent="0" marL="0">
              <a:buNone/>
            </a:pPr>
            <a:r>
              <a:rPr lang="en-US" sz="1000" dirty="0">
                <a:solidFill>
                  <a:srgbClr val="5B6270"/>
                </a:solidFill>
                <a:latin typeface="Calibri" pitchFamily="34" charset="0"/>
                <a:ea typeface="Calibri" pitchFamily="34" charset="-122"/>
                <a:cs typeface="Calibri" pitchFamily="34" charset="-120"/>
              </a:rPr>
              <a:t>06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3044952" cy="347472"/>
          </a:xfrm>
          <a:prstGeom prst="roundRect">
            <a:avLst>
              <a:gd name="adj" fmla="val 10526"/>
            </a:avLst>
          </a:prstGeom>
          <a:solidFill>
            <a:srgbClr val="F4F5F7"/>
          </a:solidFill>
          <a:ln/>
        </p:spPr>
      </p:sp>
      <p:sp>
        <p:nvSpPr>
          <p:cNvPr id="3" name="Text 1"/>
          <p:cNvSpPr txBox="1"/>
          <p:nvPr/>
        </p:nvSpPr>
        <p:spPr>
          <a:xfrm>
            <a:off x="685800" y="384048"/>
            <a:ext cx="2862072" cy="292608"/>
          </a:xfrm>
          <a:prstGeom prst="rect">
            <a:avLst/>
          </a:prstGeom>
          <a:noFill/>
          <a:ln/>
        </p:spPr>
        <p:txBody>
          <a:bodyPr wrap="square" lIns="0" tIns="0" rIns="0" bIns="0" rtlCol="0" anchor="ctr"/>
          <a:lstStyle/>
          <a:p>
            <a:pPr indent="0" marL="0">
              <a:buNone/>
            </a:pPr>
            <a:r>
              <a:rPr lang="en-US" sz="1000" b="1" spc="200" kern="0" dirty="0">
                <a:solidFill>
                  <a:srgbClr val="C63F27"/>
                </a:solidFill>
                <a:latin typeface="Calibri" pitchFamily="34" charset="0"/>
                <a:ea typeface="Calibri" pitchFamily="34" charset="-122"/>
                <a:cs typeface="Calibri" pitchFamily="34" charset="-120"/>
              </a:rPr>
              <a:t>SOLUTION ARCHITECTURE</a:t>
            </a:r>
            <a:endParaRPr lang="en-US" sz="1000" dirty="0"/>
          </a:p>
        </p:txBody>
      </p:sp>
      <p:sp>
        <p:nvSpPr>
          <p:cNvPr id="4" name="Text 2"/>
          <p:cNvSpPr txBox="1"/>
          <p:nvPr/>
        </p:nvSpPr>
        <p:spPr>
          <a:xfrm>
            <a:off x="548640" y="868680"/>
            <a:ext cx="11091672" cy="777240"/>
          </a:xfrm>
          <a:prstGeom prst="rect">
            <a:avLst/>
          </a:prstGeom>
          <a:noFill/>
          <a:ln/>
        </p:spPr>
        <p:txBody>
          <a:bodyPr wrap="square" lIns="0" tIns="0" rIns="0" bIns="0" rtlCol="0" anchor="ctr"/>
          <a:lstStyle/>
          <a:p>
            <a:pPr indent="0" marL="0">
              <a:buNone/>
            </a:pPr>
            <a:r>
              <a:rPr lang="en-US" sz="3000" b="1" dirty="0">
                <a:solidFill>
                  <a:srgbClr val="1A1D23"/>
                </a:solidFill>
                <a:latin typeface="Cambria" pitchFamily="34" charset="0"/>
                <a:ea typeface="Cambria" pitchFamily="34" charset="-122"/>
                <a:cs typeface="Cambria" pitchFamily="34" charset="-120"/>
              </a:rPr>
              <a:t>Five phases, question to verified answer.</a:t>
            </a:r>
            <a:endParaRPr lang="en-US" sz="3000" dirty="0"/>
          </a:p>
        </p:txBody>
      </p:sp>
      <p:sp>
        <p:nvSpPr>
          <p:cNvPr id="5" name="Shape 3"/>
          <p:cNvSpPr/>
          <p:nvPr/>
        </p:nvSpPr>
        <p:spPr>
          <a:xfrm>
            <a:off x="548640" y="2194560"/>
            <a:ext cx="1965960" cy="2743200"/>
          </a:xfrm>
          <a:prstGeom prst="roundRect">
            <a:avLst>
              <a:gd name="adj" fmla="val 4651"/>
            </a:avLst>
          </a:prstGeom>
          <a:solidFill>
            <a:srgbClr val="F4F5F7"/>
          </a:solidFill>
          <a:ln w="12700">
            <a:solidFill>
              <a:srgbClr val="E3E5E9"/>
            </a:solidFill>
            <a:prstDash val="solid"/>
          </a:ln>
        </p:spPr>
      </p:sp>
      <p:sp>
        <p:nvSpPr>
          <p:cNvPr id="6" name="Shape 4"/>
          <p:cNvSpPr/>
          <p:nvPr/>
        </p:nvSpPr>
        <p:spPr>
          <a:xfrm>
            <a:off x="685800" y="2377440"/>
            <a:ext cx="411480" cy="411480"/>
          </a:xfrm>
          <a:prstGeom prst="roundRect">
            <a:avLst>
              <a:gd name="adj" fmla="val 13333"/>
            </a:avLst>
          </a:prstGeom>
          <a:solidFill>
            <a:srgbClr val="E0A934"/>
          </a:solidFill>
          <a:ln/>
        </p:spPr>
      </p:sp>
      <p:sp>
        <p:nvSpPr>
          <p:cNvPr id="7" name="Text 5"/>
          <p:cNvSpPr txBox="1"/>
          <p:nvPr/>
        </p:nvSpPr>
        <p:spPr>
          <a:xfrm>
            <a:off x="685800" y="2377440"/>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8" name="Text 6"/>
          <p:cNvSpPr txBox="1"/>
          <p:nvPr/>
        </p:nvSpPr>
        <p:spPr>
          <a:xfrm>
            <a:off x="685800" y="2926080"/>
            <a:ext cx="1691640" cy="548640"/>
          </a:xfrm>
          <a:prstGeom prst="rect">
            <a:avLst/>
          </a:prstGeom>
          <a:noFill/>
          <a:ln/>
        </p:spPr>
        <p:txBody>
          <a:bodyPr wrap="square" lIns="0" tIns="0" rIns="0" bIns="0" rtlCol="0" anchor="ctr"/>
          <a:lstStyle/>
          <a:p>
            <a:pPr indent="0" marL="0">
              <a:lnSpc>
                <a:spcPct val="110000"/>
              </a:lnSpc>
              <a:buNone/>
            </a:pPr>
            <a:r>
              <a:rPr lang="en-US" sz="1500" b="1" dirty="0">
                <a:solidFill>
                  <a:srgbClr val="1A1D23"/>
                </a:solidFill>
                <a:latin typeface="Calibri" pitchFamily="34" charset="0"/>
                <a:ea typeface="Calibri" pitchFamily="34" charset="-122"/>
                <a:cs typeface="Calibri" pitchFamily="34" charset="-120"/>
              </a:rPr>
              <a:t>Embed</a:t>
            </a:r>
            <a:endParaRPr lang="en-US" sz="1500" dirty="0"/>
          </a:p>
        </p:txBody>
      </p:sp>
      <p:sp>
        <p:nvSpPr>
          <p:cNvPr id="9" name="Text 7"/>
          <p:cNvSpPr txBox="1"/>
          <p:nvPr/>
        </p:nvSpPr>
        <p:spPr>
          <a:xfrm>
            <a:off x="685800" y="3520440"/>
            <a:ext cx="1691640" cy="1188720"/>
          </a:xfrm>
          <a:prstGeom prst="rect">
            <a:avLst/>
          </a:prstGeom>
          <a:noFill/>
          <a:ln/>
        </p:spPr>
        <p:txBody>
          <a:bodyPr wrap="square" lIns="0" tIns="0" rIns="0" bIns="0" rtlCol="0" anchor="ctr"/>
          <a:lstStyle/>
          <a:p>
            <a:pPr indent="0" marL="0">
              <a:lnSpc>
                <a:spcPct val="120000"/>
              </a:lnSpc>
              <a:buNone/>
            </a:pPr>
            <a:r>
              <a:rPr lang="en-US" sz="1100" dirty="0">
                <a:solidFill>
                  <a:srgbClr val="5B6270"/>
                </a:solidFill>
                <a:latin typeface="Calibri" pitchFamily="34" charset="0"/>
                <a:ea typeface="Calibri" pitchFamily="34" charset="-122"/>
                <a:cs typeface="Calibri" pitchFamily="34" charset="-120"/>
              </a:rPr>
              <a:t>768-dim vector via nomic-embed-text (local)</a:t>
            </a:r>
            <a:endParaRPr lang="en-US" sz="1100" dirty="0"/>
          </a:p>
        </p:txBody>
      </p:sp>
      <p:sp>
        <p:nvSpPr>
          <p:cNvPr id="10" name="Text 8"/>
          <p:cNvSpPr txBox="1"/>
          <p:nvPr/>
        </p:nvSpPr>
        <p:spPr>
          <a:xfrm>
            <a:off x="2514600" y="2194560"/>
            <a:ext cx="182880" cy="2743200"/>
          </a:xfrm>
          <a:prstGeom prst="rect">
            <a:avLst/>
          </a:prstGeom>
          <a:noFill/>
          <a:ln/>
        </p:spPr>
        <p:txBody>
          <a:bodyPr wrap="square" lIns="0" tIns="0" rIns="0" bIns="0" rtlCol="0" anchor="ctr"/>
          <a:lstStyle/>
          <a:p>
            <a:pPr algn="ctr" indent="0" marL="0">
              <a:buNone/>
            </a:pPr>
            <a:r>
              <a:rPr lang="en-US" sz="1800" dirty="0">
                <a:solidFill>
                  <a:srgbClr val="5B6270"/>
                </a:solidFill>
              </a:rPr>
              <a:t>→</a:t>
            </a:r>
            <a:endParaRPr lang="en-US" sz="1800" dirty="0"/>
          </a:p>
        </p:txBody>
      </p:sp>
      <p:sp>
        <p:nvSpPr>
          <p:cNvPr id="11" name="Shape 9"/>
          <p:cNvSpPr/>
          <p:nvPr/>
        </p:nvSpPr>
        <p:spPr>
          <a:xfrm>
            <a:off x="2697480" y="2194560"/>
            <a:ext cx="1965960" cy="2743200"/>
          </a:xfrm>
          <a:prstGeom prst="roundRect">
            <a:avLst>
              <a:gd name="adj" fmla="val 4651"/>
            </a:avLst>
          </a:prstGeom>
          <a:solidFill>
            <a:srgbClr val="F4F5F7"/>
          </a:solidFill>
          <a:ln w="12700">
            <a:solidFill>
              <a:srgbClr val="E3E5E9"/>
            </a:solidFill>
            <a:prstDash val="solid"/>
          </a:ln>
        </p:spPr>
      </p:sp>
      <p:sp>
        <p:nvSpPr>
          <p:cNvPr id="12" name="Shape 10"/>
          <p:cNvSpPr/>
          <p:nvPr/>
        </p:nvSpPr>
        <p:spPr>
          <a:xfrm>
            <a:off x="2834640" y="2377440"/>
            <a:ext cx="411480" cy="411480"/>
          </a:xfrm>
          <a:prstGeom prst="roundRect">
            <a:avLst>
              <a:gd name="adj" fmla="val 13333"/>
            </a:avLst>
          </a:prstGeom>
          <a:solidFill>
            <a:srgbClr val="E0A934"/>
          </a:solidFill>
          <a:ln/>
        </p:spPr>
      </p:sp>
      <p:sp>
        <p:nvSpPr>
          <p:cNvPr id="13" name="Text 11"/>
          <p:cNvSpPr txBox="1"/>
          <p:nvPr/>
        </p:nvSpPr>
        <p:spPr>
          <a:xfrm>
            <a:off x="2834640" y="2377440"/>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4" name="Text 12"/>
          <p:cNvSpPr txBox="1"/>
          <p:nvPr/>
        </p:nvSpPr>
        <p:spPr>
          <a:xfrm>
            <a:off x="2834640" y="2926080"/>
            <a:ext cx="1691640" cy="548640"/>
          </a:xfrm>
          <a:prstGeom prst="rect">
            <a:avLst/>
          </a:prstGeom>
          <a:noFill/>
          <a:ln/>
        </p:spPr>
        <p:txBody>
          <a:bodyPr wrap="square" lIns="0" tIns="0" rIns="0" bIns="0" rtlCol="0" anchor="ctr"/>
          <a:lstStyle/>
          <a:p>
            <a:pPr indent="0" marL="0">
              <a:lnSpc>
                <a:spcPct val="110000"/>
              </a:lnSpc>
              <a:buNone/>
            </a:pPr>
            <a:r>
              <a:rPr lang="en-US" sz="1500" b="1" dirty="0">
                <a:solidFill>
                  <a:srgbClr val="1A1D23"/>
                </a:solidFill>
                <a:latin typeface="Calibri" pitchFamily="34" charset="0"/>
                <a:ea typeface="Calibri" pitchFamily="34" charset="-122"/>
                <a:cs typeface="Calibri" pitchFamily="34" charset="-120"/>
              </a:rPr>
              <a:t>Hybrid</a:t>
            </a:r>
            <a:endParaRPr lang="en-US" sz="1500" dirty="0"/>
          </a:p>
          <a:p>
            <a:pPr indent="0" marL="0">
              <a:lnSpc>
                <a:spcPct val="110000"/>
              </a:lnSpc>
              <a:buNone/>
            </a:pPr>
            <a:r>
              <a:rPr lang="en-US" sz="1500" b="1" dirty="0">
                <a:solidFill>
                  <a:srgbClr val="1A1D23"/>
                </a:solidFill>
                <a:latin typeface="Calibri" pitchFamily="34" charset="0"/>
                <a:ea typeface="Calibri" pitchFamily="34" charset="-122"/>
                <a:cs typeface="Calibri" pitchFamily="34" charset="-120"/>
              </a:rPr>
              <a:t>Search</a:t>
            </a:r>
            <a:endParaRPr lang="en-US" sz="1500" dirty="0"/>
          </a:p>
        </p:txBody>
      </p:sp>
      <p:sp>
        <p:nvSpPr>
          <p:cNvPr id="15" name="Text 13"/>
          <p:cNvSpPr txBox="1"/>
          <p:nvPr/>
        </p:nvSpPr>
        <p:spPr>
          <a:xfrm>
            <a:off x="2834640" y="3520440"/>
            <a:ext cx="1691640" cy="1188720"/>
          </a:xfrm>
          <a:prstGeom prst="rect">
            <a:avLst/>
          </a:prstGeom>
          <a:noFill/>
          <a:ln/>
        </p:spPr>
        <p:txBody>
          <a:bodyPr wrap="square" lIns="0" tIns="0" rIns="0" bIns="0" rtlCol="0" anchor="ctr"/>
          <a:lstStyle/>
          <a:p>
            <a:pPr indent="0" marL="0">
              <a:lnSpc>
                <a:spcPct val="120000"/>
              </a:lnSpc>
              <a:buNone/>
            </a:pPr>
            <a:r>
              <a:rPr lang="en-US" sz="1100" dirty="0">
                <a:solidFill>
                  <a:srgbClr val="5B6270"/>
                </a:solidFill>
                <a:latin typeface="Calibri" pitchFamily="34" charset="0"/>
                <a:ea typeface="Calibri" pitchFamily="34" charset="-122"/>
                <a:cs typeface="Calibri" pitchFamily="34" charset="-120"/>
              </a:rPr>
              <a:t>Vector (ChromaDB) + BM25 keyword, merged 70/30</a:t>
            </a:r>
            <a:endParaRPr lang="en-US" sz="1100" dirty="0"/>
          </a:p>
        </p:txBody>
      </p:sp>
      <p:sp>
        <p:nvSpPr>
          <p:cNvPr id="16" name="Text 14"/>
          <p:cNvSpPr txBox="1"/>
          <p:nvPr/>
        </p:nvSpPr>
        <p:spPr>
          <a:xfrm>
            <a:off x="4663440" y="2194560"/>
            <a:ext cx="182880" cy="2743200"/>
          </a:xfrm>
          <a:prstGeom prst="rect">
            <a:avLst/>
          </a:prstGeom>
          <a:noFill/>
          <a:ln/>
        </p:spPr>
        <p:txBody>
          <a:bodyPr wrap="square" lIns="0" tIns="0" rIns="0" bIns="0" rtlCol="0" anchor="ctr"/>
          <a:lstStyle/>
          <a:p>
            <a:pPr algn="ctr" indent="0" marL="0">
              <a:buNone/>
            </a:pPr>
            <a:r>
              <a:rPr lang="en-US" sz="1800" dirty="0">
                <a:solidFill>
                  <a:srgbClr val="5B6270"/>
                </a:solidFill>
              </a:rPr>
              <a:t>→</a:t>
            </a:r>
            <a:endParaRPr lang="en-US" sz="1800" dirty="0"/>
          </a:p>
        </p:txBody>
      </p:sp>
      <p:sp>
        <p:nvSpPr>
          <p:cNvPr id="17" name="Shape 15"/>
          <p:cNvSpPr/>
          <p:nvPr/>
        </p:nvSpPr>
        <p:spPr>
          <a:xfrm>
            <a:off x="4846320" y="2194560"/>
            <a:ext cx="1965960" cy="2743200"/>
          </a:xfrm>
          <a:prstGeom prst="roundRect">
            <a:avLst>
              <a:gd name="adj" fmla="val 4651"/>
            </a:avLst>
          </a:prstGeom>
          <a:solidFill>
            <a:srgbClr val="F4F5F7"/>
          </a:solidFill>
          <a:ln w="12700">
            <a:solidFill>
              <a:srgbClr val="E3E5E9"/>
            </a:solidFill>
            <a:prstDash val="solid"/>
          </a:ln>
        </p:spPr>
      </p:sp>
      <p:sp>
        <p:nvSpPr>
          <p:cNvPr id="18" name="Shape 16"/>
          <p:cNvSpPr/>
          <p:nvPr/>
        </p:nvSpPr>
        <p:spPr>
          <a:xfrm>
            <a:off x="4983480" y="2377440"/>
            <a:ext cx="411480" cy="411480"/>
          </a:xfrm>
          <a:prstGeom prst="roundRect">
            <a:avLst>
              <a:gd name="adj" fmla="val 13333"/>
            </a:avLst>
          </a:prstGeom>
          <a:solidFill>
            <a:srgbClr val="E0A934"/>
          </a:solidFill>
          <a:ln/>
        </p:spPr>
      </p:sp>
      <p:sp>
        <p:nvSpPr>
          <p:cNvPr id="19" name="Text 17"/>
          <p:cNvSpPr txBox="1"/>
          <p:nvPr/>
        </p:nvSpPr>
        <p:spPr>
          <a:xfrm>
            <a:off x="4983480" y="2377440"/>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20" name="Text 18"/>
          <p:cNvSpPr txBox="1"/>
          <p:nvPr/>
        </p:nvSpPr>
        <p:spPr>
          <a:xfrm>
            <a:off x="4983480" y="2926080"/>
            <a:ext cx="1691640" cy="548640"/>
          </a:xfrm>
          <a:prstGeom prst="rect">
            <a:avLst/>
          </a:prstGeom>
          <a:noFill/>
          <a:ln/>
        </p:spPr>
        <p:txBody>
          <a:bodyPr wrap="square" lIns="0" tIns="0" rIns="0" bIns="0" rtlCol="0" anchor="ctr"/>
          <a:lstStyle/>
          <a:p>
            <a:pPr indent="0" marL="0">
              <a:lnSpc>
                <a:spcPct val="110000"/>
              </a:lnSpc>
              <a:buNone/>
            </a:pPr>
            <a:r>
              <a:rPr lang="en-US" sz="1500" b="1" dirty="0">
                <a:solidFill>
                  <a:srgbClr val="1A1D23"/>
                </a:solidFill>
                <a:latin typeface="Calibri" pitchFamily="34" charset="0"/>
                <a:ea typeface="Calibri" pitchFamily="34" charset="-122"/>
                <a:cs typeface="Calibri" pitchFamily="34" charset="-120"/>
              </a:rPr>
              <a:t>Verify</a:t>
            </a:r>
            <a:endParaRPr lang="en-US" sz="1500" dirty="0"/>
          </a:p>
        </p:txBody>
      </p:sp>
      <p:sp>
        <p:nvSpPr>
          <p:cNvPr id="21" name="Text 19"/>
          <p:cNvSpPr txBox="1"/>
          <p:nvPr/>
        </p:nvSpPr>
        <p:spPr>
          <a:xfrm>
            <a:off x="4983480" y="3520440"/>
            <a:ext cx="1691640" cy="1188720"/>
          </a:xfrm>
          <a:prstGeom prst="rect">
            <a:avLst/>
          </a:prstGeom>
          <a:noFill/>
          <a:ln/>
        </p:spPr>
        <p:txBody>
          <a:bodyPr wrap="square" lIns="0" tIns="0" rIns="0" bIns="0" rtlCol="0" anchor="ctr"/>
          <a:lstStyle/>
          <a:p>
            <a:pPr indent="0" marL="0">
              <a:lnSpc>
                <a:spcPct val="120000"/>
              </a:lnSpc>
              <a:buNone/>
            </a:pPr>
            <a:r>
              <a:rPr lang="en-US" sz="1100" dirty="0">
                <a:solidFill>
                  <a:srgbClr val="5B6270"/>
                </a:solidFill>
                <a:latin typeface="Calibri" pitchFamily="34" charset="0"/>
                <a:ea typeface="Calibri" pitchFamily="34" charset="-122"/>
                <a:cs typeface="Calibri" pitchFamily="34" charset="-120"/>
              </a:rPr>
              <a:t>One independent LLM call per bug — concurrent</a:t>
            </a:r>
            <a:endParaRPr lang="en-US" sz="1100" dirty="0"/>
          </a:p>
        </p:txBody>
      </p:sp>
      <p:sp>
        <p:nvSpPr>
          <p:cNvPr id="22" name="Text 20"/>
          <p:cNvSpPr txBox="1"/>
          <p:nvPr/>
        </p:nvSpPr>
        <p:spPr>
          <a:xfrm>
            <a:off x="6812280" y="2194560"/>
            <a:ext cx="182880" cy="2743200"/>
          </a:xfrm>
          <a:prstGeom prst="rect">
            <a:avLst/>
          </a:prstGeom>
          <a:noFill/>
          <a:ln/>
        </p:spPr>
        <p:txBody>
          <a:bodyPr wrap="square" lIns="0" tIns="0" rIns="0" bIns="0" rtlCol="0" anchor="ctr"/>
          <a:lstStyle/>
          <a:p>
            <a:pPr algn="ctr" indent="0" marL="0">
              <a:buNone/>
            </a:pPr>
            <a:r>
              <a:rPr lang="en-US" sz="1800" dirty="0">
                <a:solidFill>
                  <a:srgbClr val="5B6270"/>
                </a:solidFill>
              </a:rPr>
              <a:t>→</a:t>
            </a:r>
            <a:endParaRPr lang="en-US" sz="1800" dirty="0"/>
          </a:p>
        </p:txBody>
      </p:sp>
      <p:sp>
        <p:nvSpPr>
          <p:cNvPr id="23" name="Shape 21"/>
          <p:cNvSpPr/>
          <p:nvPr/>
        </p:nvSpPr>
        <p:spPr>
          <a:xfrm>
            <a:off x="6995160" y="2194560"/>
            <a:ext cx="1965960" cy="2743200"/>
          </a:xfrm>
          <a:prstGeom prst="roundRect">
            <a:avLst>
              <a:gd name="adj" fmla="val 4651"/>
            </a:avLst>
          </a:prstGeom>
          <a:solidFill>
            <a:srgbClr val="F4F5F7"/>
          </a:solidFill>
          <a:ln w="12700">
            <a:solidFill>
              <a:srgbClr val="E3E5E9"/>
            </a:solidFill>
            <a:prstDash val="solid"/>
          </a:ln>
        </p:spPr>
      </p:sp>
      <p:sp>
        <p:nvSpPr>
          <p:cNvPr id="24" name="Shape 22"/>
          <p:cNvSpPr/>
          <p:nvPr/>
        </p:nvSpPr>
        <p:spPr>
          <a:xfrm>
            <a:off x="7132320" y="2377440"/>
            <a:ext cx="411480" cy="411480"/>
          </a:xfrm>
          <a:prstGeom prst="roundRect">
            <a:avLst>
              <a:gd name="adj" fmla="val 13333"/>
            </a:avLst>
          </a:prstGeom>
          <a:solidFill>
            <a:srgbClr val="E0A934"/>
          </a:solidFill>
          <a:ln/>
        </p:spPr>
      </p:sp>
      <p:sp>
        <p:nvSpPr>
          <p:cNvPr id="25" name="Text 23"/>
          <p:cNvSpPr txBox="1"/>
          <p:nvPr/>
        </p:nvSpPr>
        <p:spPr>
          <a:xfrm>
            <a:off x="7132320" y="2377440"/>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6" name="Text 24"/>
          <p:cNvSpPr txBox="1"/>
          <p:nvPr/>
        </p:nvSpPr>
        <p:spPr>
          <a:xfrm>
            <a:off x="7132320" y="2926080"/>
            <a:ext cx="1691640" cy="548640"/>
          </a:xfrm>
          <a:prstGeom prst="rect">
            <a:avLst/>
          </a:prstGeom>
          <a:noFill/>
          <a:ln/>
        </p:spPr>
        <p:txBody>
          <a:bodyPr wrap="square" lIns="0" tIns="0" rIns="0" bIns="0" rtlCol="0" anchor="ctr"/>
          <a:lstStyle/>
          <a:p>
            <a:pPr indent="0" marL="0">
              <a:lnSpc>
                <a:spcPct val="110000"/>
              </a:lnSpc>
              <a:buNone/>
            </a:pPr>
            <a:r>
              <a:rPr lang="en-US" sz="1500" b="1" dirty="0">
                <a:solidFill>
                  <a:srgbClr val="1A1D23"/>
                </a:solidFill>
                <a:latin typeface="Calibri" pitchFamily="34" charset="0"/>
                <a:ea typeface="Calibri" pitchFamily="34" charset="-122"/>
                <a:cs typeface="Calibri" pitchFamily="34" charset="-120"/>
              </a:rPr>
              <a:t>Synthesize</a:t>
            </a:r>
            <a:endParaRPr lang="en-US" sz="1500" dirty="0"/>
          </a:p>
        </p:txBody>
      </p:sp>
      <p:sp>
        <p:nvSpPr>
          <p:cNvPr id="27" name="Text 25"/>
          <p:cNvSpPr txBox="1"/>
          <p:nvPr/>
        </p:nvSpPr>
        <p:spPr>
          <a:xfrm>
            <a:off x="7132320" y="3520440"/>
            <a:ext cx="1691640" cy="1188720"/>
          </a:xfrm>
          <a:prstGeom prst="rect">
            <a:avLst/>
          </a:prstGeom>
          <a:noFill/>
          <a:ln/>
        </p:spPr>
        <p:txBody>
          <a:bodyPr wrap="square" lIns="0" tIns="0" rIns="0" bIns="0" rtlCol="0" anchor="ctr"/>
          <a:lstStyle/>
          <a:p>
            <a:pPr indent="0" marL="0">
              <a:lnSpc>
                <a:spcPct val="120000"/>
              </a:lnSpc>
              <a:buNone/>
            </a:pPr>
            <a:r>
              <a:rPr lang="en-US" sz="1100" dirty="0">
                <a:solidFill>
                  <a:srgbClr val="5B6270"/>
                </a:solidFill>
                <a:latin typeface="Calibri" pitchFamily="34" charset="0"/>
                <a:ea typeface="Calibri" pitchFamily="34" charset="-122"/>
                <a:cs typeface="Calibri" pitchFamily="34" charset="-120"/>
              </a:rPr>
              <a:t>Answer from verified bugs only; ungrounded citations stripped</a:t>
            </a:r>
            <a:endParaRPr lang="en-US" sz="1100" dirty="0"/>
          </a:p>
        </p:txBody>
      </p:sp>
      <p:sp>
        <p:nvSpPr>
          <p:cNvPr id="28" name="Text 26"/>
          <p:cNvSpPr txBox="1"/>
          <p:nvPr/>
        </p:nvSpPr>
        <p:spPr>
          <a:xfrm>
            <a:off x="8961120" y="2194560"/>
            <a:ext cx="182880" cy="2743200"/>
          </a:xfrm>
          <a:prstGeom prst="rect">
            <a:avLst/>
          </a:prstGeom>
          <a:noFill/>
          <a:ln/>
        </p:spPr>
        <p:txBody>
          <a:bodyPr wrap="square" lIns="0" tIns="0" rIns="0" bIns="0" rtlCol="0" anchor="ctr"/>
          <a:lstStyle/>
          <a:p>
            <a:pPr algn="ctr" indent="0" marL="0">
              <a:buNone/>
            </a:pPr>
            <a:r>
              <a:rPr lang="en-US" sz="1800" dirty="0">
                <a:solidFill>
                  <a:srgbClr val="5B6270"/>
                </a:solidFill>
              </a:rPr>
              <a:t>→</a:t>
            </a:r>
            <a:endParaRPr lang="en-US" sz="1800" dirty="0"/>
          </a:p>
        </p:txBody>
      </p:sp>
      <p:sp>
        <p:nvSpPr>
          <p:cNvPr id="29" name="Shape 27"/>
          <p:cNvSpPr/>
          <p:nvPr/>
        </p:nvSpPr>
        <p:spPr>
          <a:xfrm>
            <a:off x="9144000" y="2194560"/>
            <a:ext cx="1965960" cy="2743200"/>
          </a:xfrm>
          <a:prstGeom prst="roundRect">
            <a:avLst>
              <a:gd name="adj" fmla="val 4651"/>
            </a:avLst>
          </a:prstGeom>
          <a:solidFill>
            <a:srgbClr val="FFF3EF"/>
          </a:solidFill>
          <a:ln w="12700">
            <a:solidFill>
              <a:srgbClr val="FF6B4A"/>
            </a:solidFill>
            <a:prstDash val="solid"/>
          </a:ln>
        </p:spPr>
      </p:sp>
      <p:sp>
        <p:nvSpPr>
          <p:cNvPr id="30" name="Shape 28"/>
          <p:cNvSpPr/>
          <p:nvPr/>
        </p:nvSpPr>
        <p:spPr>
          <a:xfrm>
            <a:off x="9281160" y="2377440"/>
            <a:ext cx="411480" cy="411480"/>
          </a:xfrm>
          <a:prstGeom prst="roundRect">
            <a:avLst>
              <a:gd name="adj" fmla="val 13333"/>
            </a:avLst>
          </a:prstGeom>
          <a:solidFill>
            <a:srgbClr val="FF6B4A"/>
          </a:solidFill>
          <a:ln/>
        </p:spPr>
      </p:sp>
      <p:sp>
        <p:nvSpPr>
          <p:cNvPr id="31" name="Text 29"/>
          <p:cNvSpPr txBox="1"/>
          <p:nvPr/>
        </p:nvSpPr>
        <p:spPr>
          <a:xfrm>
            <a:off x="9281160" y="2377440"/>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32" name="Text 30"/>
          <p:cNvSpPr txBox="1"/>
          <p:nvPr/>
        </p:nvSpPr>
        <p:spPr>
          <a:xfrm>
            <a:off x="9281160" y="2926080"/>
            <a:ext cx="1691640" cy="548640"/>
          </a:xfrm>
          <a:prstGeom prst="rect">
            <a:avLst/>
          </a:prstGeom>
          <a:noFill/>
          <a:ln/>
        </p:spPr>
        <p:txBody>
          <a:bodyPr wrap="square" lIns="0" tIns="0" rIns="0" bIns="0" rtlCol="0" anchor="ctr"/>
          <a:lstStyle/>
          <a:p>
            <a:pPr indent="0" marL="0">
              <a:lnSpc>
                <a:spcPct val="110000"/>
              </a:lnSpc>
              <a:buNone/>
            </a:pPr>
            <a:r>
              <a:rPr lang="en-US" sz="1500" b="1" dirty="0">
                <a:solidFill>
                  <a:srgbClr val="1A1D23"/>
                </a:solidFill>
                <a:latin typeface="Calibri" pitchFamily="34" charset="0"/>
                <a:ea typeface="Calibri" pitchFamily="34" charset="-122"/>
                <a:cs typeface="Calibri" pitchFamily="34" charset="-120"/>
              </a:rPr>
              <a:t>Guard</a:t>
            </a:r>
            <a:endParaRPr lang="en-US" sz="1500" dirty="0"/>
          </a:p>
        </p:txBody>
      </p:sp>
      <p:sp>
        <p:nvSpPr>
          <p:cNvPr id="33" name="Text 31"/>
          <p:cNvSpPr txBox="1"/>
          <p:nvPr/>
        </p:nvSpPr>
        <p:spPr>
          <a:xfrm>
            <a:off x="9281160" y="3520440"/>
            <a:ext cx="1691640" cy="1188720"/>
          </a:xfrm>
          <a:prstGeom prst="rect">
            <a:avLst/>
          </a:prstGeom>
          <a:noFill/>
          <a:ln/>
        </p:spPr>
        <p:txBody>
          <a:bodyPr wrap="square" lIns="0" tIns="0" rIns="0" bIns="0" rtlCol="0" anchor="ctr"/>
          <a:lstStyle/>
          <a:p>
            <a:pPr indent="0" marL="0">
              <a:lnSpc>
                <a:spcPct val="120000"/>
              </a:lnSpc>
              <a:buNone/>
            </a:pPr>
            <a:r>
              <a:rPr lang="en-US" sz="1100" dirty="0">
                <a:solidFill>
                  <a:srgbClr val="5B6270"/>
                </a:solidFill>
                <a:latin typeface="Calibri" pitchFamily="34" charset="0"/>
                <a:ea typeface="Calibri" pitchFamily="34" charset="-122"/>
                <a:cs typeface="Calibri" pitchFamily="34" charset="-120"/>
              </a:rPr>
              <a:t>Contradiction detection + citation validation + consistency</a:t>
            </a:r>
            <a:endParaRPr lang="en-US" sz="1100" dirty="0"/>
          </a:p>
        </p:txBody>
      </p:sp>
      <p:sp>
        <p:nvSpPr>
          <p:cNvPr id="34" name="Shape 32"/>
          <p:cNvSpPr/>
          <p:nvPr/>
        </p:nvSpPr>
        <p:spPr>
          <a:xfrm>
            <a:off x="548640" y="5303520"/>
            <a:ext cx="11091672" cy="777240"/>
          </a:xfrm>
          <a:prstGeom prst="roundRect">
            <a:avLst>
              <a:gd name="adj" fmla="val 9412"/>
            </a:avLst>
          </a:prstGeom>
          <a:solidFill>
            <a:srgbClr val="F4F5F7"/>
          </a:solidFill>
          <a:ln/>
        </p:spPr>
      </p:sp>
      <p:sp>
        <p:nvSpPr>
          <p:cNvPr id="35" name="Text 33"/>
          <p:cNvSpPr txBox="1"/>
          <p:nvPr/>
        </p:nvSpPr>
        <p:spPr>
          <a:xfrm>
            <a:off x="822960" y="5303520"/>
            <a:ext cx="10543032" cy="777240"/>
          </a:xfrm>
          <a:prstGeom prst="rect">
            <a:avLst/>
          </a:prstGeom>
          <a:noFill/>
          <a:ln/>
        </p:spPr>
        <p:txBody>
          <a:bodyPr wrap="square" lIns="0" tIns="0" rIns="0" bIns="0" rtlCol="0" anchor="ctr"/>
          <a:lstStyle/>
          <a:p>
            <a:pPr indent="0" marL="0">
              <a:buNone/>
            </a:pPr>
            <a:r>
              <a:rPr lang="en-US" sz="1300" b="1" dirty="0">
                <a:solidFill>
                  <a:srgbClr val="1A1D23"/>
                </a:solidFill>
                <a:latin typeface="Calibri" pitchFamily="34" charset="0"/>
                <a:ea typeface="Calibri" pitchFamily="34" charset="-122"/>
                <a:cs typeface="Calibri" pitchFamily="34" charset="-120"/>
              </a:rPr>
              <a:t>Release path (separate pipeline):  </a:t>
            </a:r>
            <a:pPr indent="0" marL="0">
              <a:buNone/>
            </a:pPr>
            <a:r>
              <a:rPr lang="en-US" sz="1300" dirty="0">
                <a:solidFill>
                  <a:srgbClr val="5B6270"/>
                </a:solidFill>
                <a:latin typeface="Calibri" pitchFamily="34" charset="0"/>
                <a:ea typeface="Calibri" pitchFamily="34" charset="-122"/>
                <a:cs typeface="Calibri" pitchFamily="34" charset="-120"/>
              </a:rPr>
              <a:t>Jira bugs → deterministic rule (open + High/Blocker?) → </a:t>
            </a:r>
            <a:pPr indent="0" marL="0">
              <a:buNone/>
            </a:pPr>
            <a:r>
              <a:rPr lang="en-US" sz="1300" b="1" dirty="0">
                <a:solidFill>
                  <a:srgbClr val="1FA97F"/>
                </a:solidFill>
                <a:latin typeface="Calibri" pitchFamily="34" charset="0"/>
                <a:ea typeface="Calibri" pitchFamily="34" charset="-122"/>
                <a:cs typeface="Calibri" pitchFamily="34" charset="-120"/>
              </a:rPr>
              <a:t>GO / NO-GO</a:t>
            </a:r>
            <a:pPr indent="0" marL="0">
              <a:buNone/>
            </a:pPr>
            <a:r>
              <a:rPr lang="en-US" sz="1300" dirty="0">
                <a:solidFill>
                  <a:srgbClr val="5B6270"/>
                </a:solidFill>
                <a:latin typeface="Calibri" pitchFamily="34" charset="0"/>
                <a:ea typeface="Calibri" pitchFamily="34" charset="-122"/>
                <a:cs typeface="Calibri" pitchFamily="34" charset="-120"/>
              </a:rPr>
              <a:t> → AI writes the explanation, doesn’t make the call.</a:t>
            </a:r>
            <a:endParaRPr lang="en-US" sz="1300" dirty="0"/>
          </a:p>
        </p:txBody>
      </p:sp>
      <p:sp>
        <p:nvSpPr>
          <p:cNvPr id="36" name="Text 34"/>
          <p:cNvSpPr txBox="1"/>
          <p:nvPr/>
        </p:nvSpPr>
        <p:spPr>
          <a:xfrm>
            <a:off x="11365992" y="6400800"/>
            <a:ext cx="548640" cy="274320"/>
          </a:xfrm>
          <a:prstGeom prst="rect">
            <a:avLst/>
          </a:prstGeom>
          <a:noFill/>
          <a:ln/>
        </p:spPr>
        <p:txBody>
          <a:bodyPr wrap="square" lIns="0" tIns="0" rIns="0" bIns="0" rtlCol="0" anchor="ctr"/>
          <a:lstStyle/>
          <a:p>
            <a:pPr algn="r" indent="0" marL="0">
              <a:buNone/>
            </a:pPr>
            <a:r>
              <a:rPr lang="en-US" sz="1000" dirty="0">
                <a:solidFill>
                  <a:srgbClr val="5B6270"/>
                </a:solidFill>
                <a:latin typeface="Calibri" pitchFamily="34" charset="0"/>
                <a:ea typeface="Calibri" pitchFamily="34" charset="-122"/>
                <a:cs typeface="Calibri" pitchFamily="34" charset="-120"/>
              </a:rPr>
              <a:t>07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4171C"/>
        </a:solidFill>
      </p:bgPr>
    </p:bg>
    <p:spTree>
      <p:nvGrpSpPr>
        <p:cNvPr id="1" name=""/>
        <p:cNvGrpSpPr/>
        <p:nvPr/>
      </p:nvGrpSpPr>
      <p:grpSpPr>
        <a:xfrm>
          <a:off x="0" y="0"/>
          <a:ext cx="0" cy="0"/>
          <a:chOff x="0" y="0"/>
          <a:chExt cx="0" cy="0"/>
        </a:xfrm>
      </p:grpSpPr>
      <p:sp>
        <p:nvSpPr>
          <p:cNvPr id="2" name="Shape 0"/>
          <p:cNvSpPr/>
          <p:nvPr/>
        </p:nvSpPr>
        <p:spPr>
          <a:xfrm>
            <a:off x="10515600" y="-731520"/>
            <a:ext cx="3200400" cy="3200400"/>
          </a:xfrm>
          <a:prstGeom prst="ellipse">
            <a:avLst/>
          </a:prstGeom>
          <a:solidFill>
            <a:srgbClr val="1F2430"/>
          </a:solidFill>
          <a:ln/>
        </p:spPr>
      </p:sp>
      <p:sp>
        <p:nvSpPr>
          <p:cNvPr id="3" name="Shape 1"/>
          <p:cNvSpPr/>
          <p:nvPr/>
        </p:nvSpPr>
        <p:spPr>
          <a:xfrm>
            <a:off x="548640" y="365760"/>
            <a:ext cx="3044952" cy="347472"/>
          </a:xfrm>
          <a:prstGeom prst="roundRect">
            <a:avLst>
              <a:gd name="adj" fmla="val 10526"/>
            </a:avLst>
          </a:prstGeom>
          <a:solidFill>
            <a:srgbClr val="1F2430"/>
          </a:solidFill>
          <a:ln/>
        </p:spPr>
      </p:sp>
      <p:sp>
        <p:nvSpPr>
          <p:cNvPr id="4" name="Text 2"/>
          <p:cNvSpPr txBox="1"/>
          <p:nvPr/>
        </p:nvSpPr>
        <p:spPr>
          <a:xfrm>
            <a:off x="685800" y="384048"/>
            <a:ext cx="2862072" cy="292608"/>
          </a:xfrm>
          <a:prstGeom prst="rect">
            <a:avLst/>
          </a:prstGeom>
          <a:noFill/>
          <a:ln/>
        </p:spPr>
        <p:txBody>
          <a:bodyPr wrap="square" lIns="0" tIns="0" rIns="0" bIns="0" rtlCol="0" anchor="ctr"/>
          <a:lstStyle/>
          <a:p>
            <a:pPr indent="0" marL="0">
              <a:buNone/>
            </a:pPr>
            <a:r>
              <a:rPr lang="en-US" sz="1000" b="1" spc="200" kern="0" dirty="0">
                <a:solidFill>
                  <a:srgbClr val="FF6B4A"/>
                </a:solidFill>
                <a:latin typeface="Calibri" pitchFamily="34" charset="0"/>
                <a:ea typeface="Calibri" pitchFamily="34" charset="-122"/>
                <a:cs typeface="Calibri" pitchFamily="34" charset="-120"/>
              </a:rPr>
              <a:t>SOLUTION ARCHITECTURE</a:t>
            </a:r>
            <a:endParaRPr lang="en-US" sz="1000" dirty="0"/>
          </a:p>
        </p:txBody>
      </p:sp>
      <p:sp>
        <p:nvSpPr>
          <p:cNvPr id="5" name="Text 3"/>
          <p:cNvSpPr txBox="1"/>
          <p:nvPr/>
        </p:nvSpPr>
        <p:spPr>
          <a:xfrm>
            <a:off x="548640" y="914400"/>
            <a:ext cx="9144000" cy="73152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Where the LLM is — and isn’t — trusted.</a:t>
            </a:r>
            <a:endParaRPr lang="en-US" sz="3200" dirty="0"/>
          </a:p>
        </p:txBody>
      </p:sp>
      <p:sp>
        <p:nvSpPr>
          <p:cNvPr id="6" name="Text 4"/>
          <p:cNvSpPr txBox="1"/>
          <p:nvPr/>
        </p:nvSpPr>
        <p:spPr>
          <a:xfrm>
            <a:off x="548640" y="1691640"/>
            <a:ext cx="9144000" cy="365760"/>
          </a:xfrm>
          <a:prstGeom prst="rect">
            <a:avLst/>
          </a:prstGeom>
          <a:noFill/>
          <a:ln/>
        </p:spPr>
        <p:txBody>
          <a:bodyPr wrap="square" lIns="0" tIns="0" rIns="0" bIns="0" rtlCol="0" anchor="ctr"/>
          <a:lstStyle/>
          <a:p>
            <a:pPr indent="0" marL="0">
              <a:buNone/>
            </a:pPr>
            <a:r>
              <a:rPr lang="en-US" sz="1400" dirty="0">
                <a:solidFill>
                  <a:srgbClr val="8A90A0"/>
                </a:solidFill>
                <a:latin typeface="Calibri" pitchFamily="34" charset="0"/>
                <a:ea typeface="Calibri" pitchFamily="34" charset="-122"/>
                <a:cs typeface="Calibri" pitchFamily="34" charset="-120"/>
              </a:rPr>
              <a:t>The interesting part of this build is the boundary between what the model decides and what Python decides.</a:t>
            </a:r>
            <a:endParaRPr lang="en-US" sz="1400" dirty="0"/>
          </a:p>
        </p:txBody>
      </p:sp>
      <p:sp>
        <p:nvSpPr>
          <p:cNvPr id="7" name="Shape 5"/>
          <p:cNvSpPr/>
          <p:nvPr/>
        </p:nvSpPr>
        <p:spPr>
          <a:xfrm>
            <a:off x="548640" y="2331720"/>
            <a:ext cx="5349240" cy="594360"/>
          </a:xfrm>
          <a:prstGeom prst="roundRect">
            <a:avLst>
              <a:gd name="adj" fmla="val 9231"/>
            </a:avLst>
          </a:prstGeom>
          <a:solidFill>
            <a:srgbClr val="1F2430"/>
          </a:solidFill>
          <a:ln w="12700">
            <a:solidFill>
              <a:srgbClr val="3A3F4B"/>
            </a:solidFill>
            <a:prstDash val="solid"/>
          </a:ln>
        </p:spPr>
      </p:sp>
      <p:sp>
        <p:nvSpPr>
          <p:cNvPr id="8" name="Shape 6"/>
          <p:cNvSpPr/>
          <p:nvPr/>
        </p:nvSpPr>
        <p:spPr>
          <a:xfrm>
            <a:off x="658368" y="2441448"/>
            <a:ext cx="347472" cy="347472"/>
          </a:xfrm>
          <a:prstGeom prst="roundRect">
            <a:avLst>
              <a:gd name="adj" fmla="val 10526"/>
            </a:avLst>
          </a:prstGeom>
          <a:solidFill>
            <a:srgbClr val="E0A934"/>
          </a:solidFill>
          <a:ln/>
        </p:spPr>
      </p:sp>
      <p:sp>
        <p:nvSpPr>
          <p:cNvPr id="9" name="Text 7"/>
          <p:cNvSpPr txBox="1"/>
          <p:nvPr/>
        </p:nvSpPr>
        <p:spPr>
          <a:xfrm>
            <a:off x="658368" y="2441448"/>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AI</a:t>
            </a:r>
            <a:endParaRPr lang="en-US" sz="1100" dirty="0"/>
          </a:p>
        </p:txBody>
      </p:sp>
      <p:sp>
        <p:nvSpPr>
          <p:cNvPr id="10" name="Text 8"/>
          <p:cNvSpPr txBox="1"/>
          <p:nvPr/>
        </p:nvSpPr>
        <p:spPr>
          <a:xfrm>
            <a:off x="1143000" y="2377440"/>
            <a:ext cx="4572000" cy="502920"/>
          </a:xfrm>
          <a:prstGeom prst="rect">
            <a:avLst/>
          </a:prstGeom>
          <a:noFill/>
          <a:ln/>
        </p:spPr>
        <p:txBody>
          <a:bodyPr wrap="square" lIns="0" tIns="0" rIns="0" bIns="0" rtlCol="0" anchor="ctr"/>
          <a:lstStyle/>
          <a:p>
            <a:pPr indent="0" marL="0">
              <a:lnSpc>
                <a:spcPct val="110000"/>
              </a:lnSpc>
              <a:buNone/>
            </a:pPr>
            <a:r>
              <a:rPr lang="en-US" sz="1100" dirty="0">
                <a:solidFill>
                  <a:srgbClr val="C9CDD4"/>
                </a:solidFill>
                <a:latin typeface="Calibri" pitchFamily="34" charset="0"/>
                <a:ea typeface="Calibri" pitchFamily="34" charset="-122"/>
                <a:cs typeface="Calibri" pitchFamily="34" charset="-120"/>
              </a:rPr>
              <a:t>Is a retrieved bug actually relevant to the question (judgment call, one call per bug)</a:t>
            </a:r>
            <a:endParaRPr lang="en-US" sz="1100" dirty="0"/>
          </a:p>
        </p:txBody>
      </p:sp>
      <p:sp>
        <p:nvSpPr>
          <p:cNvPr id="11" name="Shape 9"/>
          <p:cNvSpPr/>
          <p:nvPr/>
        </p:nvSpPr>
        <p:spPr>
          <a:xfrm>
            <a:off x="6062472" y="2331720"/>
            <a:ext cx="5349240" cy="594360"/>
          </a:xfrm>
          <a:prstGeom prst="roundRect">
            <a:avLst>
              <a:gd name="adj" fmla="val 9231"/>
            </a:avLst>
          </a:prstGeom>
          <a:solidFill>
            <a:srgbClr val="1F2430"/>
          </a:solidFill>
          <a:ln w="12700">
            <a:solidFill>
              <a:srgbClr val="3A3F4B"/>
            </a:solidFill>
            <a:prstDash val="solid"/>
          </a:ln>
        </p:spPr>
      </p:sp>
      <p:sp>
        <p:nvSpPr>
          <p:cNvPr id="12" name="Shape 10"/>
          <p:cNvSpPr/>
          <p:nvPr/>
        </p:nvSpPr>
        <p:spPr>
          <a:xfrm>
            <a:off x="6172200" y="2441448"/>
            <a:ext cx="347472" cy="347472"/>
          </a:xfrm>
          <a:prstGeom prst="roundRect">
            <a:avLst>
              <a:gd name="adj" fmla="val 10526"/>
            </a:avLst>
          </a:prstGeom>
          <a:solidFill>
            <a:srgbClr val="E0A934"/>
          </a:solidFill>
          <a:ln/>
        </p:spPr>
      </p:sp>
      <p:sp>
        <p:nvSpPr>
          <p:cNvPr id="13" name="Text 11"/>
          <p:cNvSpPr txBox="1"/>
          <p:nvPr/>
        </p:nvSpPr>
        <p:spPr>
          <a:xfrm>
            <a:off x="6172200" y="2441448"/>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AI</a:t>
            </a:r>
            <a:endParaRPr lang="en-US" sz="1100" dirty="0"/>
          </a:p>
        </p:txBody>
      </p:sp>
      <p:sp>
        <p:nvSpPr>
          <p:cNvPr id="14" name="Text 12"/>
          <p:cNvSpPr txBox="1"/>
          <p:nvPr/>
        </p:nvSpPr>
        <p:spPr>
          <a:xfrm>
            <a:off x="6656832" y="2377440"/>
            <a:ext cx="4572000" cy="502920"/>
          </a:xfrm>
          <a:prstGeom prst="rect">
            <a:avLst/>
          </a:prstGeom>
          <a:noFill/>
          <a:ln/>
        </p:spPr>
        <p:txBody>
          <a:bodyPr wrap="square" lIns="0" tIns="0" rIns="0" bIns="0" rtlCol="0" anchor="ctr"/>
          <a:lstStyle/>
          <a:p>
            <a:pPr indent="0" marL="0">
              <a:lnSpc>
                <a:spcPct val="110000"/>
              </a:lnSpc>
              <a:buNone/>
            </a:pPr>
            <a:r>
              <a:rPr lang="en-US" sz="1100" dirty="0">
                <a:solidFill>
                  <a:srgbClr val="C9CDD4"/>
                </a:solidFill>
                <a:latin typeface="Calibri" pitchFamily="34" charset="0"/>
                <a:ea typeface="Calibri" pitchFamily="34" charset="-122"/>
                <a:cs typeface="Calibri" pitchFamily="34" charset="-120"/>
              </a:rPr>
              <a:t>duplicate vs. related — the model conflates same-component with same-defect; a similarity-floor guardrail catches it</a:t>
            </a:r>
            <a:endParaRPr lang="en-US" sz="1100" dirty="0"/>
          </a:p>
        </p:txBody>
      </p:sp>
      <p:sp>
        <p:nvSpPr>
          <p:cNvPr id="15" name="Shape 13"/>
          <p:cNvSpPr/>
          <p:nvPr/>
        </p:nvSpPr>
        <p:spPr>
          <a:xfrm>
            <a:off x="548640" y="3090672"/>
            <a:ext cx="5349240" cy="594360"/>
          </a:xfrm>
          <a:prstGeom prst="roundRect">
            <a:avLst>
              <a:gd name="adj" fmla="val 9231"/>
            </a:avLst>
          </a:prstGeom>
          <a:solidFill>
            <a:srgbClr val="1A3A2A"/>
          </a:solidFill>
          <a:ln w="12700">
            <a:solidFill>
              <a:srgbClr val="1FA97F"/>
            </a:solidFill>
            <a:prstDash val="solid"/>
          </a:ln>
        </p:spPr>
      </p:sp>
      <p:sp>
        <p:nvSpPr>
          <p:cNvPr id="16" name="Shape 14"/>
          <p:cNvSpPr/>
          <p:nvPr/>
        </p:nvSpPr>
        <p:spPr>
          <a:xfrm>
            <a:off x="658368" y="3200400"/>
            <a:ext cx="347472" cy="347472"/>
          </a:xfrm>
          <a:prstGeom prst="roundRect">
            <a:avLst>
              <a:gd name="adj" fmla="val 10526"/>
            </a:avLst>
          </a:prstGeom>
          <a:solidFill>
            <a:srgbClr val="1FA97F"/>
          </a:solidFill>
          <a:ln/>
        </p:spPr>
      </p:sp>
      <p:sp>
        <p:nvSpPr>
          <p:cNvPr id="17" name="Text 15"/>
          <p:cNvSpPr txBox="1"/>
          <p:nvPr/>
        </p:nvSpPr>
        <p:spPr>
          <a:xfrm>
            <a:off x="658368" y="3200400"/>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18" name="Text 16"/>
          <p:cNvSpPr txBox="1"/>
          <p:nvPr/>
        </p:nvSpPr>
        <p:spPr>
          <a:xfrm>
            <a:off x="1143000" y="3136392"/>
            <a:ext cx="4572000" cy="502920"/>
          </a:xfrm>
          <a:prstGeom prst="rect">
            <a:avLst/>
          </a:prstGeom>
          <a:noFill/>
          <a:ln/>
        </p:spPr>
        <p:txBody>
          <a:bodyPr wrap="square" lIns="0" tIns="0" rIns="0" bIns="0" rtlCol="0" anchor="ctr"/>
          <a:lstStyle/>
          <a:p>
            <a:pPr indent="0" marL="0">
              <a:lnSpc>
                <a:spcPct val="110000"/>
              </a:lnSpc>
              <a:buNone/>
            </a:pPr>
            <a:r>
              <a:rPr lang="en-US" sz="1100" dirty="0">
                <a:solidFill>
                  <a:srgbClr val="C9CDD4"/>
                </a:solidFill>
                <a:latin typeface="Calibri" pitchFamily="34" charset="0"/>
                <a:ea typeface="Calibri" pitchFamily="34" charset="-122"/>
                <a:cs typeface="Calibri" pitchFamily="34" charset="-120"/>
              </a:rPr>
              <a:t>Release GO/NO-GO — a gate that can hallucinate is not a gate</a:t>
            </a:r>
            <a:endParaRPr lang="en-US" sz="1100" dirty="0"/>
          </a:p>
        </p:txBody>
      </p:sp>
      <p:sp>
        <p:nvSpPr>
          <p:cNvPr id="19" name="Shape 17"/>
          <p:cNvSpPr/>
          <p:nvPr/>
        </p:nvSpPr>
        <p:spPr>
          <a:xfrm>
            <a:off x="6062472" y="3090672"/>
            <a:ext cx="5349240" cy="594360"/>
          </a:xfrm>
          <a:prstGeom prst="roundRect">
            <a:avLst>
              <a:gd name="adj" fmla="val 9231"/>
            </a:avLst>
          </a:prstGeom>
          <a:solidFill>
            <a:srgbClr val="1A3A2A"/>
          </a:solidFill>
          <a:ln w="12700">
            <a:solidFill>
              <a:srgbClr val="1FA97F"/>
            </a:solidFill>
            <a:prstDash val="solid"/>
          </a:ln>
        </p:spPr>
      </p:sp>
      <p:sp>
        <p:nvSpPr>
          <p:cNvPr id="20" name="Shape 18"/>
          <p:cNvSpPr/>
          <p:nvPr/>
        </p:nvSpPr>
        <p:spPr>
          <a:xfrm>
            <a:off x="6172200" y="3200400"/>
            <a:ext cx="347472" cy="347472"/>
          </a:xfrm>
          <a:prstGeom prst="roundRect">
            <a:avLst>
              <a:gd name="adj" fmla="val 10526"/>
            </a:avLst>
          </a:prstGeom>
          <a:solidFill>
            <a:srgbClr val="1FA97F"/>
          </a:solidFill>
          <a:ln/>
        </p:spPr>
      </p:sp>
      <p:sp>
        <p:nvSpPr>
          <p:cNvPr id="21" name="Text 19"/>
          <p:cNvSpPr txBox="1"/>
          <p:nvPr/>
        </p:nvSpPr>
        <p:spPr>
          <a:xfrm>
            <a:off x="6172200" y="3200400"/>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22" name="Text 20"/>
          <p:cNvSpPr txBox="1"/>
          <p:nvPr/>
        </p:nvSpPr>
        <p:spPr>
          <a:xfrm>
            <a:off x="6656832" y="3136392"/>
            <a:ext cx="4572000" cy="502920"/>
          </a:xfrm>
          <a:prstGeom prst="rect">
            <a:avLst/>
          </a:prstGeom>
          <a:noFill/>
          <a:ln/>
        </p:spPr>
        <p:txBody>
          <a:bodyPr wrap="square" lIns="0" tIns="0" rIns="0" bIns="0" rtlCol="0" anchor="ctr"/>
          <a:lstStyle/>
          <a:p>
            <a:pPr indent="0" marL="0">
              <a:lnSpc>
                <a:spcPct val="110000"/>
              </a:lnSpc>
              <a:buNone/>
            </a:pPr>
            <a:r>
              <a:rPr lang="en-US" sz="1100" dirty="0">
                <a:solidFill>
                  <a:srgbClr val="C9CDD4"/>
                </a:solidFill>
                <a:latin typeface="Calibri" pitchFamily="34" charset="0"/>
                <a:ea typeface="Calibri" pitchFamily="34" charset="-122"/>
                <a:cs typeface="Calibri" pitchFamily="34" charset="-120"/>
              </a:rPr>
              <a:t>Which bug IDs may be cited — the model will invent IDs (proven in this project)</a:t>
            </a:r>
            <a:endParaRPr lang="en-US" sz="1100" dirty="0"/>
          </a:p>
        </p:txBody>
      </p:sp>
      <p:sp>
        <p:nvSpPr>
          <p:cNvPr id="23" name="Shape 21"/>
          <p:cNvSpPr/>
          <p:nvPr/>
        </p:nvSpPr>
        <p:spPr>
          <a:xfrm>
            <a:off x="548640" y="3849624"/>
            <a:ext cx="5349240" cy="594360"/>
          </a:xfrm>
          <a:prstGeom prst="roundRect">
            <a:avLst>
              <a:gd name="adj" fmla="val 9231"/>
            </a:avLst>
          </a:prstGeom>
          <a:solidFill>
            <a:srgbClr val="1A3A2A"/>
          </a:solidFill>
          <a:ln w="12700">
            <a:solidFill>
              <a:srgbClr val="1FA97F"/>
            </a:solidFill>
            <a:prstDash val="solid"/>
          </a:ln>
        </p:spPr>
      </p:sp>
      <p:sp>
        <p:nvSpPr>
          <p:cNvPr id="24" name="Shape 22"/>
          <p:cNvSpPr/>
          <p:nvPr/>
        </p:nvSpPr>
        <p:spPr>
          <a:xfrm>
            <a:off x="658368" y="3959352"/>
            <a:ext cx="347472" cy="347472"/>
          </a:xfrm>
          <a:prstGeom prst="roundRect">
            <a:avLst>
              <a:gd name="adj" fmla="val 10526"/>
            </a:avLst>
          </a:prstGeom>
          <a:solidFill>
            <a:srgbClr val="1FA97F"/>
          </a:solidFill>
          <a:ln/>
        </p:spPr>
      </p:sp>
      <p:sp>
        <p:nvSpPr>
          <p:cNvPr id="25" name="Text 23"/>
          <p:cNvSpPr txBox="1"/>
          <p:nvPr/>
        </p:nvSpPr>
        <p:spPr>
          <a:xfrm>
            <a:off x="658368" y="3959352"/>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26" name="Text 24"/>
          <p:cNvSpPr txBox="1"/>
          <p:nvPr/>
        </p:nvSpPr>
        <p:spPr>
          <a:xfrm>
            <a:off x="1143000" y="3895344"/>
            <a:ext cx="4572000" cy="502920"/>
          </a:xfrm>
          <a:prstGeom prst="rect">
            <a:avLst/>
          </a:prstGeom>
          <a:noFill/>
          <a:ln/>
        </p:spPr>
        <p:txBody>
          <a:bodyPr wrap="square" lIns="0" tIns="0" rIns="0" bIns="0" rtlCol="0" anchor="ctr"/>
          <a:lstStyle/>
          <a:p>
            <a:pPr indent="0" marL="0">
              <a:lnSpc>
                <a:spcPct val="110000"/>
              </a:lnSpc>
              <a:buNone/>
            </a:pPr>
            <a:r>
              <a:rPr lang="en-US" sz="1100" dirty="0">
                <a:solidFill>
                  <a:srgbClr val="C9CDD4"/>
                </a:solidFill>
                <a:latin typeface="Calibri" pitchFamily="34" charset="0"/>
                <a:ea typeface="Calibri" pitchFamily="34" charset="-122"/>
                <a:cs typeface="Calibri" pitchFamily="34" charset="-120"/>
              </a:rPr>
              <a:t>Priority/count breakdowns — the model’s arithmetic silently swapped counts in a live run</a:t>
            </a:r>
            <a:endParaRPr lang="en-US" sz="1100" dirty="0"/>
          </a:p>
        </p:txBody>
      </p:sp>
      <p:sp>
        <p:nvSpPr>
          <p:cNvPr id="27" name="Shape 25"/>
          <p:cNvSpPr/>
          <p:nvPr/>
        </p:nvSpPr>
        <p:spPr>
          <a:xfrm>
            <a:off x="6062472" y="3849624"/>
            <a:ext cx="5349240" cy="594360"/>
          </a:xfrm>
          <a:prstGeom prst="roundRect">
            <a:avLst>
              <a:gd name="adj" fmla="val 9231"/>
            </a:avLst>
          </a:prstGeom>
          <a:solidFill>
            <a:srgbClr val="1A3A2A"/>
          </a:solidFill>
          <a:ln w="12700">
            <a:solidFill>
              <a:srgbClr val="1FA97F"/>
            </a:solidFill>
            <a:prstDash val="solid"/>
          </a:ln>
        </p:spPr>
      </p:sp>
      <p:sp>
        <p:nvSpPr>
          <p:cNvPr id="28" name="Shape 26"/>
          <p:cNvSpPr/>
          <p:nvPr/>
        </p:nvSpPr>
        <p:spPr>
          <a:xfrm>
            <a:off x="6172200" y="3959352"/>
            <a:ext cx="347472" cy="347472"/>
          </a:xfrm>
          <a:prstGeom prst="roundRect">
            <a:avLst>
              <a:gd name="adj" fmla="val 10526"/>
            </a:avLst>
          </a:prstGeom>
          <a:solidFill>
            <a:srgbClr val="1FA97F"/>
          </a:solidFill>
          <a:ln/>
        </p:spPr>
      </p:sp>
      <p:sp>
        <p:nvSpPr>
          <p:cNvPr id="29" name="Text 27"/>
          <p:cNvSpPr txBox="1"/>
          <p:nvPr/>
        </p:nvSpPr>
        <p:spPr>
          <a:xfrm>
            <a:off x="6172200" y="3959352"/>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30" name="Text 28"/>
          <p:cNvSpPr txBox="1"/>
          <p:nvPr/>
        </p:nvSpPr>
        <p:spPr>
          <a:xfrm>
            <a:off x="6656832" y="3895344"/>
            <a:ext cx="4572000" cy="502920"/>
          </a:xfrm>
          <a:prstGeom prst="rect">
            <a:avLst/>
          </a:prstGeom>
          <a:noFill/>
          <a:ln/>
        </p:spPr>
        <p:txBody>
          <a:bodyPr wrap="square" lIns="0" tIns="0" rIns="0" bIns="0" rtlCol="0" anchor="ctr"/>
          <a:lstStyle/>
          <a:p>
            <a:pPr indent="0" marL="0">
              <a:lnSpc>
                <a:spcPct val="110000"/>
              </a:lnSpc>
              <a:buNone/>
            </a:pPr>
            <a:r>
              <a:rPr lang="en-US" sz="1100" dirty="0">
                <a:solidFill>
                  <a:srgbClr val="C9CDD4"/>
                </a:solidFill>
                <a:latin typeface="Calibri" pitchFamily="34" charset="0"/>
                <a:ea typeface="Calibri" pitchFamily="34" charset="-122"/>
                <a:cs typeface="Calibri" pitchFamily="34" charset="-120"/>
              </a:rPr>
              <a:t>is_relevant vs. badge consistency — whichever field says “not relevant” always wins</a:t>
            </a:r>
            <a:endParaRPr lang="en-US" sz="1100" dirty="0"/>
          </a:p>
        </p:txBody>
      </p:sp>
      <p:sp>
        <p:nvSpPr>
          <p:cNvPr id="31" name="Shape 29"/>
          <p:cNvSpPr/>
          <p:nvPr/>
        </p:nvSpPr>
        <p:spPr>
          <a:xfrm>
            <a:off x="548640" y="4709160"/>
            <a:ext cx="11091672" cy="548640"/>
          </a:xfrm>
          <a:prstGeom prst="roundRect">
            <a:avLst>
              <a:gd name="adj" fmla="val 10000"/>
            </a:avLst>
          </a:prstGeom>
          <a:solidFill>
            <a:srgbClr val="1F2430"/>
          </a:solidFill>
          <a:ln/>
        </p:spPr>
      </p:sp>
      <p:sp>
        <p:nvSpPr>
          <p:cNvPr id="32" name="Text 30"/>
          <p:cNvSpPr txBox="1"/>
          <p:nvPr/>
        </p:nvSpPr>
        <p:spPr>
          <a:xfrm>
            <a:off x="822960" y="4709160"/>
            <a:ext cx="10543032" cy="54864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The LLM writes the explanation</a:t>
            </a:r>
            <a:pPr indent="0" marL="0">
              <a:buNone/>
            </a:pPr>
            <a:r>
              <a:rPr lang="en-US" sz="1350" dirty="0">
                <a:solidFill>
                  <a:srgbClr val="8A90A0"/>
                </a:solidFill>
                <a:latin typeface="Calibri" pitchFamily="34" charset="0"/>
                <a:ea typeface="Calibri" pitchFamily="34" charset="-122"/>
                <a:cs typeface="Calibri" pitchFamily="34" charset="-120"/>
              </a:rPr>
              <a:t> for a go/no-go verdict it is handed. It never makes the verdict.</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4171C"/>
        </a:solidFill>
      </p:bgPr>
    </p:bg>
    <p:spTree>
      <p:nvGrpSpPr>
        <p:cNvPr id="1" name=""/>
        <p:cNvGrpSpPr/>
        <p:nvPr/>
      </p:nvGrpSpPr>
      <p:grpSpPr>
        <a:xfrm>
          <a:off x="0" y="0"/>
          <a:ext cx="0" cy="0"/>
          <a:chOff x="0" y="0"/>
          <a:chExt cx="0" cy="0"/>
        </a:xfrm>
      </p:grpSpPr>
      <p:sp>
        <p:nvSpPr>
          <p:cNvPr id="2" name="Shape 0"/>
          <p:cNvSpPr/>
          <p:nvPr/>
        </p:nvSpPr>
        <p:spPr>
          <a:xfrm>
            <a:off x="-1371600" y="4114800"/>
            <a:ext cx="4114800" cy="4114800"/>
          </a:xfrm>
          <a:prstGeom prst="ellipse">
            <a:avLst/>
          </a:prstGeom>
          <a:solidFill>
            <a:srgbClr val="1F2430"/>
          </a:solidFill>
          <a:ln/>
        </p:spPr>
      </p:sp>
      <p:sp>
        <p:nvSpPr>
          <p:cNvPr id="3" name="Shape 1"/>
          <p:cNvSpPr/>
          <p:nvPr/>
        </p:nvSpPr>
        <p:spPr>
          <a:xfrm>
            <a:off x="-365760" y="5120640"/>
            <a:ext cx="2011680" cy="2011680"/>
          </a:xfrm>
          <a:prstGeom prst="ellipse">
            <a:avLst/>
          </a:prstGeom>
          <a:solidFill>
            <a:srgbClr val="FF6B4A">
              <a:alpha val="15000"/>
            </a:srgbClr>
          </a:solidFill>
          <a:ln/>
        </p:spPr>
      </p:sp>
      <p:sp>
        <p:nvSpPr>
          <p:cNvPr id="4" name="Shape 2"/>
          <p:cNvSpPr/>
          <p:nvPr/>
        </p:nvSpPr>
        <p:spPr>
          <a:xfrm>
            <a:off x="548640" y="365760"/>
            <a:ext cx="2688336" cy="347472"/>
          </a:xfrm>
          <a:prstGeom prst="roundRect">
            <a:avLst>
              <a:gd name="adj" fmla="val 10526"/>
            </a:avLst>
          </a:prstGeom>
          <a:solidFill>
            <a:srgbClr val="1F2430"/>
          </a:solidFill>
          <a:ln/>
        </p:spPr>
      </p:sp>
      <p:sp>
        <p:nvSpPr>
          <p:cNvPr id="5" name="Text 3"/>
          <p:cNvSpPr txBox="1"/>
          <p:nvPr/>
        </p:nvSpPr>
        <p:spPr>
          <a:xfrm>
            <a:off x="685800" y="384048"/>
            <a:ext cx="2505456" cy="292608"/>
          </a:xfrm>
          <a:prstGeom prst="rect">
            <a:avLst/>
          </a:prstGeom>
          <a:noFill/>
          <a:ln/>
        </p:spPr>
        <p:txBody>
          <a:bodyPr wrap="square" lIns="0" tIns="0" rIns="0" bIns="0" rtlCol="0" anchor="ctr"/>
          <a:lstStyle/>
          <a:p>
            <a:pPr indent="0" marL="0">
              <a:buNone/>
            </a:pPr>
            <a:r>
              <a:rPr lang="en-US" sz="1000" b="1" spc="200" kern="0" dirty="0">
                <a:solidFill>
                  <a:srgbClr val="FF6B4A"/>
                </a:solidFill>
                <a:latin typeface="Calibri" pitchFamily="34" charset="0"/>
                <a:ea typeface="Calibri" pitchFamily="34" charset="-122"/>
                <a:cs typeface="Calibri" pitchFamily="34" charset="-120"/>
              </a:rPr>
              <a:t>LIVE DEMONSTRATION</a:t>
            </a:r>
            <a:endParaRPr lang="en-US" sz="1000" dirty="0"/>
          </a:p>
        </p:txBody>
      </p:sp>
      <p:sp>
        <p:nvSpPr>
          <p:cNvPr id="6" name="Text 4"/>
          <p:cNvSpPr txBox="1"/>
          <p:nvPr/>
        </p:nvSpPr>
        <p:spPr>
          <a:xfrm>
            <a:off x="548640" y="2286000"/>
            <a:ext cx="9144000" cy="91440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Let’s see it work.</a:t>
            </a:r>
            <a:endParaRPr lang="en-US" sz="4600" dirty="0"/>
          </a:p>
        </p:txBody>
      </p:sp>
      <p:sp>
        <p:nvSpPr>
          <p:cNvPr id="7" name="Shape 5"/>
          <p:cNvSpPr/>
          <p:nvPr/>
        </p:nvSpPr>
        <p:spPr>
          <a:xfrm>
            <a:off x="548640" y="3154680"/>
            <a:ext cx="822960" cy="54864"/>
          </a:xfrm>
          <a:prstGeom prst="rect">
            <a:avLst/>
          </a:prstGeom>
          <a:solidFill>
            <a:srgbClr val="FF6B4A"/>
          </a:solidFill>
          <a:ln/>
        </p:spPr>
      </p:sp>
      <p:sp>
        <p:nvSpPr>
          <p:cNvPr id="8" name="Shape 6"/>
          <p:cNvSpPr/>
          <p:nvPr/>
        </p:nvSpPr>
        <p:spPr>
          <a:xfrm>
            <a:off x="640080" y="3557016"/>
            <a:ext cx="320040" cy="320040"/>
          </a:xfrm>
          <a:prstGeom prst="roundRect">
            <a:avLst>
              <a:gd name="adj" fmla="val 11429"/>
            </a:avLst>
          </a:prstGeom>
          <a:solidFill>
            <a:srgbClr val="FF6B4A"/>
          </a:solidFill>
          <a:ln/>
        </p:spPr>
      </p:sp>
      <p:sp>
        <p:nvSpPr>
          <p:cNvPr id="9" name="Text 7"/>
          <p:cNvSpPr txBox="1"/>
          <p:nvPr/>
        </p:nvSpPr>
        <p:spPr>
          <a:xfrm>
            <a:off x="640080" y="3557016"/>
            <a:ext cx="320040" cy="3200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0" name="Text 8"/>
          <p:cNvSpPr txBox="1"/>
          <p:nvPr/>
        </p:nvSpPr>
        <p:spPr>
          <a:xfrm>
            <a:off x="1188720" y="3520440"/>
            <a:ext cx="8229600" cy="365760"/>
          </a:xfrm>
          <a:prstGeom prst="rect">
            <a:avLst/>
          </a:prstGeom>
          <a:noFill/>
          <a:ln/>
        </p:spPr>
        <p:txBody>
          <a:bodyPr wrap="square" lIns="0" tIns="0" rIns="0" bIns="0" rtlCol="0" anchor="ctr"/>
          <a:lstStyle/>
          <a:p>
            <a:pPr indent="0" marL="0">
              <a:buNone/>
            </a:pPr>
            <a:r>
              <a:rPr lang="en-US" sz="1500" dirty="0">
                <a:solidFill>
                  <a:srgbClr val="C9CDD4"/>
                </a:solidFill>
                <a:latin typeface="Calibri" pitchFamily="34" charset="0"/>
                <a:ea typeface="Calibri" pitchFamily="34" charset="-122"/>
                <a:cs typeface="Calibri" pitchFamily="34" charset="-120"/>
              </a:rPr>
              <a:t>Jira fetch + ingest pipeline (live)</a:t>
            </a:r>
            <a:endParaRPr lang="en-US" sz="1500" dirty="0"/>
          </a:p>
        </p:txBody>
      </p:sp>
      <p:sp>
        <p:nvSpPr>
          <p:cNvPr id="11" name="Shape 9"/>
          <p:cNvSpPr/>
          <p:nvPr/>
        </p:nvSpPr>
        <p:spPr>
          <a:xfrm>
            <a:off x="640080" y="4032504"/>
            <a:ext cx="320040" cy="320040"/>
          </a:xfrm>
          <a:prstGeom prst="roundRect">
            <a:avLst>
              <a:gd name="adj" fmla="val 11429"/>
            </a:avLst>
          </a:prstGeom>
          <a:solidFill>
            <a:srgbClr val="FF6B4A"/>
          </a:solidFill>
          <a:ln/>
        </p:spPr>
      </p:sp>
      <p:sp>
        <p:nvSpPr>
          <p:cNvPr id="12" name="Text 10"/>
          <p:cNvSpPr txBox="1"/>
          <p:nvPr/>
        </p:nvSpPr>
        <p:spPr>
          <a:xfrm>
            <a:off x="640080" y="4032504"/>
            <a:ext cx="320040" cy="3200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1"/>
          <p:cNvSpPr txBox="1"/>
          <p:nvPr/>
        </p:nvSpPr>
        <p:spPr>
          <a:xfrm>
            <a:off x="1188720" y="3995928"/>
            <a:ext cx="8229600" cy="365760"/>
          </a:xfrm>
          <a:prstGeom prst="rect">
            <a:avLst/>
          </a:prstGeom>
          <a:noFill/>
          <a:ln/>
        </p:spPr>
        <p:txBody>
          <a:bodyPr wrap="square" lIns="0" tIns="0" rIns="0" bIns="0" rtlCol="0" anchor="ctr"/>
          <a:lstStyle/>
          <a:p>
            <a:pPr indent="0" marL="0">
              <a:buNone/>
            </a:pPr>
            <a:r>
              <a:rPr lang="en-US" sz="1500" dirty="0">
                <a:solidFill>
                  <a:srgbClr val="C9CDD4"/>
                </a:solidFill>
                <a:latin typeface="Calibri" pitchFamily="34" charset="0"/>
                <a:ea typeface="Calibri" pitchFamily="34" charset="-122"/>
                <a:cs typeface="Calibri" pitchFamily="34" charset="-120"/>
              </a:rPr>
              <a:t>“checkout broken for European customers” — hybrid search in action</a:t>
            </a:r>
            <a:endParaRPr lang="en-US" sz="1500" dirty="0"/>
          </a:p>
        </p:txBody>
      </p:sp>
      <p:sp>
        <p:nvSpPr>
          <p:cNvPr id="14" name="Shape 12"/>
          <p:cNvSpPr/>
          <p:nvPr/>
        </p:nvSpPr>
        <p:spPr>
          <a:xfrm>
            <a:off x="640080" y="4507992"/>
            <a:ext cx="320040" cy="320040"/>
          </a:xfrm>
          <a:prstGeom prst="roundRect">
            <a:avLst>
              <a:gd name="adj" fmla="val 11429"/>
            </a:avLst>
          </a:prstGeom>
          <a:solidFill>
            <a:srgbClr val="FF6B4A"/>
          </a:solidFill>
          <a:ln/>
        </p:spPr>
      </p:sp>
      <p:sp>
        <p:nvSpPr>
          <p:cNvPr id="15" name="Text 13"/>
          <p:cNvSpPr txBox="1"/>
          <p:nvPr/>
        </p:nvSpPr>
        <p:spPr>
          <a:xfrm>
            <a:off x="640080" y="4507992"/>
            <a:ext cx="320040" cy="3200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6" name="Text 14"/>
          <p:cNvSpPr txBox="1"/>
          <p:nvPr/>
        </p:nvSpPr>
        <p:spPr>
          <a:xfrm>
            <a:off x="1188720" y="4471416"/>
            <a:ext cx="8229600" cy="365760"/>
          </a:xfrm>
          <a:prstGeom prst="rect">
            <a:avLst/>
          </a:prstGeom>
          <a:noFill/>
          <a:ln/>
        </p:spPr>
        <p:txBody>
          <a:bodyPr wrap="square" lIns="0" tIns="0" rIns="0" bIns="0" rtlCol="0" anchor="ctr"/>
          <a:lstStyle/>
          <a:p>
            <a:pPr indent="0" marL="0">
              <a:buNone/>
            </a:pPr>
            <a:r>
              <a:rPr lang="en-US" sz="1500" dirty="0">
                <a:solidFill>
                  <a:srgbClr val="C9CDD4"/>
                </a:solidFill>
                <a:latin typeface="Calibri" pitchFamily="34" charset="0"/>
                <a:ea typeface="Calibri" pitchFamily="34" charset="-122"/>
                <a:cs typeface="Calibri" pitchFamily="34" charset="-120"/>
              </a:rPr>
              <a:t>“Bluetooth pairing bugs?” — honest rejection</a:t>
            </a:r>
            <a:endParaRPr lang="en-US" sz="1500" dirty="0"/>
          </a:p>
        </p:txBody>
      </p:sp>
      <p:sp>
        <p:nvSpPr>
          <p:cNvPr id="17" name="Shape 15"/>
          <p:cNvSpPr/>
          <p:nvPr/>
        </p:nvSpPr>
        <p:spPr>
          <a:xfrm>
            <a:off x="640080" y="4983480"/>
            <a:ext cx="320040" cy="320040"/>
          </a:xfrm>
          <a:prstGeom prst="roundRect">
            <a:avLst>
              <a:gd name="adj" fmla="val 11429"/>
            </a:avLst>
          </a:prstGeom>
          <a:solidFill>
            <a:srgbClr val="FF6B4A"/>
          </a:solidFill>
          <a:ln/>
        </p:spPr>
      </p:sp>
      <p:sp>
        <p:nvSpPr>
          <p:cNvPr id="18" name="Text 16"/>
          <p:cNvSpPr txBox="1"/>
          <p:nvPr/>
        </p:nvSpPr>
        <p:spPr>
          <a:xfrm>
            <a:off x="640080" y="4983480"/>
            <a:ext cx="320040" cy="3200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9" name="Text 17"/>
          <p:cNvSpPr txBox="1"/>
          <p:nvPr/>
        </p:nvSpPr>
        <p:spPr>
          <a:xfrm>
            <a:off x="1188720" y="4946904"/>
            <a:ext cx="8229600" cy="365760"/>
          </a:xfrm>
          <a:prstGeom prst="rect">
            <a:avLst/>
          </a:prstGeom>
          <a:noFill/>
          <a:ln/>
        </p:spPr>
        <p:txBody>
          <a:bodyPr wrap="square" lIns="0" tIns="0" rIns="0" bIns="0" rtlCol="0" anchor="ctr"/>
          <a:lstStyle/>
          <a:p>
            <a:pPr indent="0" marL="0">
              <a:buNone/>
            </a:pPr>
            <a:r>
              <a:rPr lang="en-US" sz="1500" dirty="0">
                <a:solidFill>
                  <a:srgbClr val="C9CDD4"/>
                </a:solidFill>
                <a:latin typeface="Calibri" pitchFamily="34" charset="0"/>
                <a:ea typeface="Calibri" pitchFamily="34" charset="-122"/>
                <a:cs typeface="Calibri" pitchFamily="34" charset="-120"/>
              </a:rPr>
              <a:t>Release readiness gate — v2.5.0 NO-GO</a:t>
            </a:r>
            <a:endParaRPr lang="en-US" sz="1500" dirty="0"/>
          </a:p>
        </p:txBody>
      </p:sp>
      <p:sp>
        <p:nvSpPr>
          <p:cNvPr id="20" name="Shape 18"/>
          <p:cNvSpPr/>
          <p:nvPr/>
        </p:nvSpPr>
        <p:spPr>
          <a:xfrm>
            <a:off x="640080" y="5458968"/>
            <a:ext cx="320040" cy="320040"/>
          </a:xfrm>
          <a:prstGeom prst="roundRect">
            <a:avLst>
              <a:gd name="adj" fmla="val 11429"/>
            </a:avLst>
          </a:prstGeom>
          <a:solidFill>
            <a:srgbClr val="FF6B4A"/>
          </a:solidFill>
          <a:ln/>
        </p:spPr>
      </p:sp>
      <p:sp>
        <p:nvSpPr>
          <p:cNvPr id="21" name="Text 19"/>
          <p:cNvSpPr txBox="1"/>
          <p:nvPr/>
        </p:nvSpPr>
        <p:spPr>
          <a:xfrm>
            <a:off x="640080" y="5458968"/>
            <a:ext cx="320040" cy="3200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2" name="Text 20"/>
          <p:cNvSpPr txBox="1"/>
          <p:nvPr/>
        </p:nvSpPr>
        <p:spPr>
          <a:xfrm>
            <a:off x="1188720" y="5422392"/>
            <a:ext cx="8229600" cy="365760"/>
          </a:xfrm>
          <a:prstGeom prst="rect">
            <a:avLst/>
          </a:prstGeom>
          <a:noFill/>
          <a:ln/>
        </p:spPr>
        <p:txBody>
          <a:bodyPr wrap="square" lIns="0" tIns="0" rIns="0" bIns="0" rtlCol="0" anchor="ctr"/>
          <a:lstStyle/>
          <a:p>
            <a:pPr indent="0" marL="0">
              <a:buNone/>
            </a:pPr>
            <a:r>
              <a:rPr lang="en-US" sz="1500" dirty="0">
                <a:solidFill>
                  <a:srgbClr val="C9CDD4"/>
                </a:solidFill>
                <a:latin typeface="Calibri" pitchFamily="34" charset="0"/>
                <a:ea typeface="Calibri" pitchFamily="34" charset="-122"/>
                <a:cs typeface="Calibri" pitchFamily="34" charset="-120"/>
              </a:rPr>
              <a:t>MCP — same query from inside GitHub Copilot</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1380744" cy="347472"/>
          </a:xfrm>
          <a:prstGeom prst="roundRect">
            <a:avLst>
              <a:gd name="adj" fmla="val 10526"/>
            </a:avLst>
          </a:prstGeom>
          <a:solidFill>
            <a:srgbClr val="F4F5F7"/>
          </a:solidFill>
          <a:ln/>
        </p:spPr>
      </p:sp>
      <p:sp>
        <p:nvSpPr>
          <p:cNvPr id="3" name="Text 1"/>
          <p:cNvSpPr txBox="1"/>
          <p:nvPr/>
        </p:nvSpPr>
        <p:spPr>
          <a:xfrm>
            <a:off x="685800" y="384048"/>
            <a:ext cx="1197864" cy="292608"/>
          </a:xfrm>
          <a:prstGeom prst="rect">
            <a:avLst/>
          </a:prstGeom>
          <a:noFill/>
          <a:ln/>
        </p:spPr>
        <p:txBody>
          <a:bodyPr wrap="square" lIns="0" tIns="0" rIns="0" bIns="0" rtlCol="0" anchor="ctr"/>
          <a:lstStyle/>
          <a:p>
            <a:pPr indent="0" marL="0">
              <a:buNone/>
            </a:pPr>
            <a:r>
              <a:rPr lang="en-US" sz="1000" b="1" spc="200" kern="0" dirty="0">
                <a:solidFill>
                  <a:srgbClr val="C63F27"/>
                </a:solidFill>
                <a:latin typeface="Calibri" pitchFamily="34" charset="0"/>
                <a:ea typeface="Calibri" pitchFamily="34" charset="-122"/>
                <a:cs typeface="Calibri" pitchFamily="34" charset="-120"/>
              </a:rPr>
              <a:t>ROADMAP</a:t>
            </a:r>
            <a:endParaRPr lang="en-US" sz="1000" dirty="0"/>
          </a:p>
        </p:txBody>
      </p:sp>
      <p:sp>
        <p:nvSpPr>
          <p:cNvPr id="4" name="Text 2"/>
          <p:cNvSpPr txBox="1"/>
          <p:nvPr/>
        </p:nvSpPr>
        <p:spPr>
          <a:xfrm>
            <a:off x="548640" y="868680"/>
            <a:ext cx="11091672" cy="777240"/>
          </a:xfrm>
          <a:prstGeom prst="rect">
            <a:avLst/>
          </a:prstGeom>
          <a:noFill/>
          <a:ln/>
        </p:spPr>
        <p:txBody>
          <a:bodyPr wrap="square" lIns="0" tIns="0" rIns="0" bIns="0" rtlCol="0" anchor="ctr"/>
          <a:lstStyle/>
          <a:p>
            <a:pPr indent="0" marL="0">
              <a:buNone/>
            </a:pPr>
            <a:r>
              <a:rPr lang="en-US" sz="3000" b="1" dirty="0">
                <a:solidFill>
                  <a:srgbClr val="1A1D23"/>
                </a:solidFill>
                <a:latin typeface="Cambria" pitchFamily="34" charset="0"/>
                <a:ea typeface="Cambria" pitchFamily="34" charset="-122"/>
                <a:cs typeface="Cambria" pitchFamily="34" charset="-120"/>
              </a:rPr>
              <a:t>What’s next.</a:t>
            </a:r>
            <a:endParaRPr lang="en-US" sz="3000" dirty="0"/>
          </a:p>
        </p:txBody>
      </p:sp>
      <p:sp>
        <p:nvSpPr>
          <p:cNvPr id="5" name="Shape 3"/>
          <p:cNvSpPr/>
          <p:nvPr/>
        </p:nvSpPr>
        <p:spPr>
          <a:xfrm>
            <a:off x="548640" y="2286000"/>
            <a:ext cx="3337560" cy="2743200"/>
          </a:xfrm>
          <a:prstGeom prst="roundRect">
            <a:avLst>
              <a:gd name="adj" fmla="val 3333"/>
            </a:avLst>
          </a:prstGeom>
          <a:solidFill>
            <a:srgbClr val="F4F5F7"/>
          </a:solidFill>
          <a:ln/>
        </p:spPr>
      </p:sp>
      <p:sp>
        <p:nvSpPr>
          <p:cNvPr id="6" name="Shape 4"/>
          <p:cNvSpPr/>
          <p:nvPr/>
        </p:nvSpPr>
        <p:spPr>
          <a:xfrm>
            <a:off x="822960" y="2560320"/>
            <a:ext cx="457200" cy="457200"/>
          </a:xfrm>
          <a:prstGeom prst="ellipse">
            <a:avLst/>
          </a:prstGeom>
          <a:solidFill>
            <a:srgbClr val="FF6B4A"/>
          </a:solidFill>
          <a:ln/>
        </p:spPr>
      </p:sp>
      <p:sp>
        <p:nvSpPr>
          <p:cNvPr id="7" name="Text 5"/>
          <p:cNvSpPr txBox="1"/>
          <p:nvPr/>
        </p:nvSpPr>
        <p:spPr>
          <a:xfrm>
            <a:off x="822960" y="25603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8" name="Text 6"/>
          <p:cNvSpPr txBox="1"/>
          <p:nvPr/>
        </p:nvSpPr>
        <p:spPr>
          <a:xfrm>
            <a:off x="822960" y="3200400"/>
            <a:ext cx="2788920" cy="777240"/>
          </a:xfrm>
          <a:prstGeom prst="rect">
            <a:avLst/>
          </a:prstGeom>
          <a:noFill/>
          <a:ln/>
        </p:spPr>
        <p:txBody>
          <a:bodyPr wrap="square" lIns="0" tIns="0" rIns="0" bIns="0" rtlCol="0" anchor="ctr"/>
          <a:lstStyle/>
          <a:p>
            <a:pPr indent="0" marL="0">
              <a:lnSpc>
                <a:spcPct val="110000"/>
              </a:lnSpc>
              <a:buNone/>
            </a:pPr>
            <a:r>
              <a:rPr lang="en-US" sz="1500" b="1" dirty="0">
                <a:solidFill>
                  <a:srgbClr val="1A1D23"/>
                </a:solidFill>
                <a:latin typeface="Calibri" pitchFamily="34" charset="0"/>
                <a:ea typeface="Calibri" pitchFamily="34" charset="-122"/>
                <a:cs typeface="Calibri" pitchFamily="34" charset="-120"/>
              </a:rPr>
              <a:t>Per-component risk scoring</a:t>
            </a:r>
            <a:endParaRPr lang="en-US" sz="1500" dirty="0"/>
          </a:p>
        </p:txBody>
      </p:sp>
      <p:sp>
        <p:nvSpPr>
          <p:cNvPr id="9" name="Text 7"/>
          <p:cNvSpPr txBox="1"/>
          <p:nvPr/>
        </p:nvSpPr>
        <p:spPr>
          <a:xfrm>
            <a:off x="822960" y="4023360"/>
            <a:ext cx="2788920" cy="914400"/>
          </a:xfrm>
          <a:prstGeom prst="rect">
            <a:avLst/>
          </a:prstGeom>
          <a:noFill/>
          <a:ln/>
        </p:spPr>
        <p:txBody>
          <a:bodyPr wrap="square" lIns="0" tIns="0" rIns="0" bIns="0" rtlCol="0" anchor="ctr"/>
          <a:lstStyle/>
          <a:p>
            <a:pPr indent="0" marL="0">
              <a:lnSpc>
                <a:spcPct val="120000"/>
              </a:lnSpc>
              <a:buNone/>
            </a:pPr>
            <a:r>
              <a:rPr lang="en-US" sz="1200" dirty="0">
                <a:solidFill>
                  <a:srgbClr val="5B6270"/>
                </a:solidFill>
                <a:latin typeface="Calibri" pitchFamily="34" charset="0"/>
                <a:ea typeface="Calibri" pitchFamily="34" charset="-122"/>
                <a:cs typeface="Calibri" pitchFamily="34" charset="-120"/>
              </a:rPr>
              <a:t>Beyond a binary gate — continuous risk signals using severity distribution and defect trends per component.</a:t>
            </a:r>
            <a:endParaRPr lang="en-US" sz="1200" dirty="0"/>
          </a:p>
        </p:txBody>
      </p:sp>
      <p:sp>
        <p:nvSpPr>
          <p:cNvPr id="10" name="Shape 8"/>
          <p:cNvSpPr/>
          <p:nvPr/>
        </p:nvSpPr>
        <p:spPr>
          <a:xfrm>
            <a:off x="4178808" y="2286000"/>
            <a:ext cx="3337560" cy="2743200"/>
          </a:xfrm>
          <a:prstGeom prst="roundRect">
            <a:avLst>
              <a:gd name="adj" fmla="val 3333"/>
            </a:avLst>
          </a:prstGeom>
          <a:solidFill>
            <a:srgbClr val="F4F5F7"/>
          </a:solidFill>
          <a:ln/>
        </p:spPr>
      </p:sp>
      <p:sp>
        <p:nvSpPr>
          <p:cNvPr id="11" name="Shape 9"/>
          <p:cNvSpPr/>
          <p:nvPr/>
        </p:nvSpPr>
        <p:spPr>
          <a:xfrm>
            <a:off x="4453128" y="2560320"/>
            <a:ext cx="457200" cy="457200"/>
          </a:xfrm>
          <a:prstGeom prst="ellipse">
            <a:avLst/>
          </a:prstGeom>
          <a:solidFill>
            <a:srgbClr val="FF6B4A"/>
          </a:solidFill>
          <a:ln/>
        </p:spPr>
      </p:sp>
      <p:sp>
        <p:nvSpPr>
          <p:cNvPr id="12" name="Text 10"/>
          <p:cNvSpPr txBox="1"/>
          <p:nvPr/>
        </p:nvSpPr>
        <p:spPr>
          <a:xfrm>
            <a:off x="4453128" y="25603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3" name="Text 11"/>
          <p:cNvSpPr txBox="1"/>
          <p:nvPr/>
        </p:nvSpPr>
        <p:spPr>
          <a:xfrm>
            <a:off x="4453128" y="3200400"/>
            <a:ext cx="2788920" cy="777240"/>
          </a:xfrm>
          <a:prstGeom prst="rect">
            <a:avLst/>
          </a:prstGeom>
          <a:noFill/>
          <a:ln/>
        </p:spPr>
        <p:txBody>
          <a:bodyPr wrap="square" lIns="0" tIns="0" rIns="0" bIns="0" rtlCol="0" anchor="ctr"/>
          <a:lstStyle/>
          <a:p>
            <a:pPr indent="0" marL="0">
              <a:lnSpc>
                <a:spcPct val="110000"/>
              </a:lnSpc>
              <a:buNone/>
            </a:pPr>
            <a:r>
              <a:rPr lang="en-US" sz="1500" b="1" dirty="0">
                <a:solidFill>
                  <a:srgbClr val="1A1D23"/>
                </a:solidFill>
                <a:latin typeface="Calibri" pitchFamily="34" charset="0"/>
                <a:ea typeface="Calibri" pitchFamily="34" charset="-122"/>
                <a:cs typeface="Calibri" pitchFamily="34" charset="-120"/>
              </a:rPr>
              <a:t>Multi-project support</a:t>
            </a:r>
            <a:endParaRPr lang="en-US" sz="1500" dirty="0"/>
          </a:p>
        </p:txBody>
      </p:sp>
      <p:sp>
        <p:nvSpPr>
          <p:cNvPr id="14" name="Text 12"/>
          <p:cNvSpPr txBox="1"/>
          <p:nvPr/>
        </p:nvSpPr>
        <p:spPr>
          <a:xfrm>
            <a:off x="4453128" y="4023360"/>
            <a:ext cx="2788920" cy="914400"/>
          </a:xfrm>
          <a:prstGeom prst="rect">
            <a:avLst/>
          </a:prstGeom>
          <a:noFill/>
          <a:ln/>
        </p:spPr>
        <p:txBody>
          <a:bodyPr wrap="square" lIns="0" tIns="0" rIns="0" bIns="0" rtlCol="0" anchor="ctr"/>
          <a:lstStyle/>
          <a:p>
            <a:pPr indent="0" marL="0">
              <a:lnSpc>
                <a:spcPct val="120000"/>
              </a:lnSpc>
              <a:buNone/>
            </a:pPr>
            <a:r>
              <a:rPr lang="en-US" sz="1200" dirty="0">
                <a:solidFill>
                  <a:srgbClr val="5B6270"/>
                </a:solidFill>
                <a:latin typeface="Calibri" pitchFamily="34" charset="0"/>
                <a:ea typeface="Calibri" pitchFamily="34" charset="-122"/>
                <a:cs typeface="Calibri" pitchFamily="34" charset="-120"/>
              </a:rPr>
              <a:t>One broader JQL plus a project filter at query time — no re-architecture needed.</a:t>
            </a:r>
            <a:endParaRPr lang="en-US" sz="1200" dirty="0"/>
          </a:p>
        </p:txBody>
      </p:sp>
      <p:sp>
        <p:nvSpPr>
          <p:cNvPr id="15" name="Shape 13"/>
          <p:cNvSpPr/>
          <p:nvPr/>
        </p:nvSpPr>
        <p:spPr>
          <a:xfrm>
            <a:off x="7808976" y="2286000"/>
            <a:ext cx="3337560" cy="2743200"/>
          </a:xfrm>
          <a:prstGeom prst="roundRect">
            <a:avLst>
              <a:gd name="adj" fmla="val 3333"/>
            </a:avLst>
          </a:prstGeom>
          <a:solidFill>
            <a:srgbClr val="F4F5F7"/>
          </a:solidFill>
          <a:ln/>
        </p:spPr>
      </p:sp>
      <p:sp>
        <p:nvSpPr>
          <p:cNvPr id="16" name="Shape 14"/>
          <p:cNvSpPr/>
          <p:nvPr/>
        </p:nvSpPr>
        <p:spPr>
          <a:xfrm>
            <a:off x="8083296" y="2560320"/>
            <a:ext cx="457200" cy="457200"/>
          </a:xfrm>
          <a:prstGeom prst="ellipse">
            <a:avLst/>
          </a:prstGeom>
          <a:solidFill>
            <a:srgbClr val="FF6B4A"/>
          </a:solidFill>
          <a:ln/>
        </p:spPr>
      </p:sp>
      <p:sp>
        <p:nvSpPr>
          <p:cNvPr id="17" name="Text 15"/>
          <p:cNvSpPr txBox="1"/>
          <p:nvPr/>
        </p:nvSpPr>
        <p:spPr>
          <a:xfrm>
            <a:off x="8083296" y="25603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8" name="Text 16"/>
          <p:cNvSpPr txBox="1"/>
          <p:nvPr/>
        </p:nvSpPr>
        <p:spPr>
          <a:xfrm>
            <a:off x="8083296" y="3200400"/>
            <a:ext cx="2788920" cy="777240"/>
          </a:xfrm>
          <a:prstGeom prst="rect">
            <a:avLst/>
          </a:prstGeom>
          <a:noFill/>
          <a:ln/>
        </p:spPr>
        <p:txBody>
          <a:bodyPr wrap="square" lIns="0" tIns="0" rIns="0" bIns="0" rtlCol="0" anchor="ctr"/>
          <a:lstStyle/>
          <a:p>
            <a:pPr indent="0" marL="0">
              <a:lnSpc>
                <a:spcPct val="110000"/>
              </a:lnSpc>
              <a:buNone/>
            </a:pPr>
            <a:r>
              <a:rPr lang="en-US" sz="1500" b="1" dirty="0">
                <a:solidFill>
                  <a:srgbClr val="1A1D23"/>
                </a:solidFill>
                <a:latin typeface="Calibri" pitchFamily="34" charset="0"/>
                <a:ea typeface="Calibri" pitchFamily="34" charset="-122"/>
                <a:cs typeface="Calibri" pitchFamily="34" charset="-120"/>
              </a:rPr>
              <a:t>Hybrid search tuning</a:t>
            </a:r>
            <a:endParaRPr lang="en-US" sz="1500" dirty="0"/>
          </a:p>
        </p:txBody>
      </p:sp>
      <p:sp>
        <p:nvSpPr>
          <p:cNvPr id="19" name="Text 17"/>
          <p:cNvSpPr txBox="1"/>
          <p:nvPr/>
        </p:nvSpPr>
        <p:spPr>
          <a:xfrm>
            <a:off x="8083296" y="4023360"/>
            <a:ext cx="2788920" cy="914400"/>
          </a:xfrm>
          <a:prstGeom prst="rect">
            <a:avLst/>
          </a:prstGeom>
          <a:noFill/>
          <a:ln/>
        </p:spPr>
        <p:txBody>
          <a:bodyPr wrap="square" lIns="0" tIns="0" rIns="0" bIns="0" rtlCol="0" anchor="ctr"/>
          <a:lstStyle/>
          <a:p>
            <a:pPr indent="0" marL="0">
              <a:lnSpc>
                <a:spcPct val="120000"/>
              </a:lnSpc>
              <a:buNone/>
            </a:pPr>
            <a:r>
              <a:rPr lang="en-US" sz="1200" dirty="0">
                <a:solidFill>
                  <a:srgbClr val="5B6270"/>
                </a:solidFill>
                <a:latin typeface="Calibri" pitchFamily="34" charset="0"/>
                <a:ea typeface="Calibri" pitchFamily="34" charset="-122"/>
                <a:cs typeface="Calibri" pitchFamily="34" charset="-120"/>
              </a:rPr>
              <a:t>Refine the vector/keyword weighting as the corpus grows well beyond today’s 60-bug dataset.</a:t>
            </a:r>
            <a:endParaRPr lang="en-US" sz="1200" dirty="0"/>
          </a:p>
        </p:txBody>
      </p:sp>
      <p:sp>
        <p:nvSpPr>
          <p:cNvPr id="20" name="Text 18"/>
          <p:cNvSpPr txBox="1"/>
          <p:nvPr/>
        </p:nvSpPr>
        <p:spPr>
          <a:xfrm>
            <a:off x="11365992" y="6400800"/>
            <a:ext cx="548640" cy="274320"/>
          </a:xfrm>
          <a:prstGeom prst="rect">
            <a:avLst/>
          </a:prstGeom>
          <a:noFill/>
          <a:ln/>
        </p:spPr>
        <p:txBody>
          <a:bodyPr wrap="square" lIns="0" tIns="0" rIns="0" bIns="0" rtlCol="0" anchor="ctr"/>
          <a:lstStyle/>
          <a:p>
            <a:pPr algn="r" indent="0" marL="0">
              <a:buNone/>
            </a:pPr>
            <a:r>
              <a:rPr lang="en-US" sz="1000" dirty="0">
                <a:solidFill>
                  <a:srgbClr val="5B6270"/>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4171C"/>
        </a:solidFill>
      </p:bgPr>
    </p:bg>
    <p:spTree>
      <p:nvGrpSpPr>
        <p:cNvPr id="1" name=""/>
        <p:cNvGrpSpPr/>
        <p:nvPr/>
      </p:nvGrpSpPr>
      <p:grpSpPr>
        <a:xfrm>
          <a:off x="0" y="0"/>
          <a:ext cx="0" cy="0"/>
          <a:chOff x="0" y="0"/>
          <a:chExt cx="0" cy="0"/>
        </a:xfrm>
      </p:grpSpPr>
      <p:sp>
        <p:nvSpPr>
          <p:cNvPr id="2" name="Shape 0"/>
          <p:cNvSpPr/>
          <p:nvPr/>
        </p:nvSpPr>
        <p:spPr>
          <a:xfrm>
            <a:off x="-1371600" y="4114800"/>
            <a:ext cx="4114800" cy="4114800"/>
          </a:xfrm>
          <a:prstGeom prst="ellipse">
            <a:avLst/>
          </a:prstGeom>
          <a:solidFill>
            <a:srgbClr val="1F2430"/>
          </a:solidFill>
          <a:ln/>
        </p:spPr>
      </p:sp>
      <p:sp>
        <p:nvSpPr>
          <p:cNvPr id="3" name="Shape 1"/>
          <p:cNvSpPr/>
          <p:nvPr/>
        </p:nvSpPr>
        <p:spPr>
          <a:xfrm>
            <a:off x="-365760" y="5120640"/>
            <a:ext cx="2011680" cy="2011680"/>
          </a:xfrm>
          <a:prstGeom prst="ellipse">
            <a:avLst/>
          </a:prstGeom>
          <a:solidFill>
            <a:srgbClr val="FF6B4A">
              <a:alpha val="15000"/>
            </a:srgbClr>
          </a:solidFill>
          <a:ln/>
        </p:spPr>
      </p:sp>
      <p:sp>
        <p:nvSpPr>
          <p:cNvPr id="4" name="Text 2"/>
          <p:cNvSpPr txBox="1"/>
          <p:nvPr/>
        </p:nvSpPr>
        <p:spPr>
          <a:xfrm>
            <a:off x="548640" y="2560320"/>
            <a:ext cx="9144000" cy="91440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Thank you.</a:t>
            </a:r>
            <a:endParaRPr lang="en-US" sz="4600" dirty="0"/>
          </a:p>
        </p:txBody>
      </p:sp>
      <p:sp>
        <p:nvSpPr>
          <p:cNvPr id="5" name="Shape 3"/>
          <p:cNvSpPr/>
          <p:nvPr/>
        </p:nvSpPr>
        <p:spPr>
          <a:xfrm>
            <a:off x="548640" y="3429000"/>
            <a:ext cx="822960" cy="54864"/>
          </a:xfrm>
          <a:prstGeom prst="rect">
            <a:avLst/>
          </a:prstGeom>
          <a:solidFill>
            <a:srgbClr val="FF6B4A"/>
          </a:solidFill>
          <a:ln/>
        </p:spPr>
      </p:sp>
      <p:sp>
        <p:nvSpPr>
          <p:cNvPr id="6" name="Text 4"/>
          <p:cNvSpPr txBox="1"/>
          <p:nvPr/>
        </p:nvSpPr>
        <p:spPr>
          <a:xfrm>
            <a:off x="548640" y="3611880"/>
            <a:ext cx="8229600" cy="457200"/>
          </a:xfrm>
          <a:prstGeom prst="rect">
            <a:avLst/>
          </a:prstGeom>
          <a:noFill/>
          <a:ln/>
        </p:spPr>
        <p:txBody>
          <a:bodyPr wrap="square" lIns="0" tIns="0" rIns="0" bIns="0" rtlCol="0" anchor="ctr"/>
          <a:lstStyle/>
          <a:p>
            <a:pPr indent="0" marL="0">
              <a:buNone/>
            </a:pPr>
            <a:r>
              <a:rPr lang="en-US" sz="1600" dirty="0">
                <a:solidFill>
                  <a:srgbClr val="C9CDD4"/>
                </a:solidFill>
                <a:latin typeface="Calibri" pitchFamily="34" charset="0"/>
                <a:ea typeface="Calibri" pitchFamily="34" charset="-122"/>
                <a:cs typeface="Calibri" pitchFamily="34" charset="-120"/>
              </a:rPr>
              <a:t>Questions welcome — including the hard ones.</a:t>
            </a:r>
            <a:endParaRPr lang="en-US" sz="1600" dirty="0"/>
          </a:p>
        </p:txBody>
      </p:sp>
      <p:sp>
        <p:nvSpPr>
          <p:cNvPr id="7" name="Text 5"/>
          <p:cNvSpPr txBox="1"/>
          <p:nvPr/>
        </p:nvSpPr>
        <p:spPr>
          <a:xfrm>
            <a:off x="548640" y="6217920"/>
            <a:ext cx="9144000" cy="365760"/>
          </a:xfrm>
          <a:prstGeom prst="rect">
            <a:avLst/>
          </a:prstGeom>
          <a:noFill/>
          <a:ln/>
        </p:spPr>
        <p:txBody>
          <a:bodyPr wrap="square" lIns="0" tIns="0" rIns="0" bIns="0" rtlCol="0" anchor="ctr"/>
          <a:lstStyle/>
          <a:p>
            <a:pPr indent="0" marL="0">
              <a:buNone/>
            </a:pPr>
            <a:r>
              <a:rPr lang="en-US" sz="1200" dirty="0">
                <a:solidFill>
                  <a:srgbClr val="8A90A0"/>
                </a:solidFill>
                <a:latin typeface="Calibri" pitchFamily="34" charset="0"/>
                <a:ea typeface="Calibri" pitchFamily="34" charset="-122"/>
                <a:cs typeface="Calibri" pitchFamily="34" charset="-120"/>
              </a:rPr>
              <a:t>BugLens  —  Shailja Tyagi  —  Capgemini AI Hackathon</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2026-09-01T05:13:14Z</dcterms:created>
  <dcterms:modified xsi:type="dcterms:W3CDTF">2026-09-01T05:13:14Z</dcterms:modified>
</cp:coreProperties>
</file>